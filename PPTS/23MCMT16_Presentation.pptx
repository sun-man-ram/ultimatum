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6" r:id="rId1"/>
  </p:sldMasterIdLst>
  <p:notesMasterIdLst>
    <p:notesMasterId r:id="rId32"/>
  </p:notesMasterIdLst>
  <p:sldIdLst>
    <p:sldId id="256" r:id="rId2"/>
    <p:sldId id="272" r:id="rId3"/>
    <p:sldId id="301" r:id="rId4"/>
    <p:sldId id="259" r:id="rId5"/>
    <p:sldId id="275" r:id="rId6"/>
    <p:sldId id="258" r:id="rId7"/>
    <p:sldId id="268" r:id="rId8"/>
    <p:sldId id="274" r:id="rId9"/>
    <p:sldId id="276" r:id="rId10"/>
    <p:sldId id="277" r:id="rId11"/>
    <p:sldId id="278" r:id="rId12"/>
    <p:sldId id="294" r:id="rId13"/>
    <p:sldId id="295" r:id="rId14"/>
    <p:sldId id="282" r:id="rId15"/>
    <p:sldId id="302" r:id="rId16"/>
    <p:sldId id="303" r:id="rId17"/>
    <p:sldId id="283" r:id="rId18"/>
    <p:sldId id="296" r:id="rId19"/>
    <p:sldId id="284" r:id="rId20"/>
    <p:sldId id="297" r:id="rId21"/>
    <p:sldId id="298" r:id="rId22"/>
    <p:sldId id="299" r:id="rId23"/>
    <p:sldId id="285" r:id="rId24"/>
    <p:sldId id="286" r:id="rId25"/>
    <p:sldId id="287" r:id="rId26"/>
    <p:sldId id="288" r:id="rId27"/>
    <p:sldId id="300" r:id="rId28"/>
    <p:sldId id="289" r:id="rId29"/>
    <p:sldId id="293" r:id="rId30"/>
    <p:sldId id="29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017" autoAdjust="0"/>
  </p:normalViewPr>
  <p:slideViewPr>
    <p:cSldViewPr snapToGrid="0">
      <p:cViewPr varScale="1">
        <p:scale>
          <a:sx n="74" d="100"/>
          <a:sy n="74"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250597-950B-4420-BEC1-CC8FB889898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10EDD588-B4F9-433E-B8D6-2E518220B8DC}">
      <dgm:prSet phldrT="[Text]" custT="1"/>
      <dgm:spPr/>
      <dgm:t>
        <a:bodyPr/>
        <a:lstStyle/>
        <a:p>
          <a:r>
            <a:rPr lang="en-US" sz="2000" dirty="0"/>
            <a:t>Hash-Based Cryptography</a:t>
          </a:r>
          <a:endParaRPr lang="en-IN" sz="2000" dirty="0"/>
        </a:p>
      </dgm:t>
    </dgm:pt>
    <dgm:pt modelId="{016FE195-1C57-470E-BDEC-9B3E190EE66B}" type="parTrans" cxnId="{78670B23-04BC-4AEB-90A0-5AF3BEB2E158}">
      <dgm:prSet/>
      <dgm:spPr/>
      <dgm:t>
        <a:bodyPr/>
        <a:lstStyle/>
        <a:p>
          <a:endParaRPr lang="en-IN" sz="2000"/>
        </a:p>
      </dgm:t>
    </dgm:pt>
    <dgm:pt modelId="{8F367764-3311-49AD-99BF-86E6718B217B}" type="sibTrans" cxnId="{78670B23-04BC-4AEB-90A0-5AF3BEB2E158}">
      <dgm:prSet/>
      <dgm:spPr/>
      <dgm:t>
        <a:bodyPr/>
        <a:lstStyle/>
        <a:p>
          <a:endParaRPr lang="en-IN" sz="2000"/>
        </a:p>
      </dgm:t>
    </dgm:pt>
    <dgm:pt modelId="{7F7A0CA2-06F0-4F39-B619-4C127E5E0C13}">
      <dgm:prSet phldrT="[Text]" custT="1"/>
      <dgm:spPr/>
      <dgm:t>
        <a:bodyPr/>
        <a:lstStyle/>
        <a:p>
          <a:r>
            <a:rPr lang="en-US" sz="2000" dirty="0"/>
            <a:t>It is built entirely on hash function, providing strong security but it has larger signature sizes.</a:t>
          </a:r>
          <a:endParaRPr lang="en-IN" sz="2000" dirty="0"/>
        </a:p>
      </dgm:t>
    </dgm:pt>
    <dgm:pt modelId="{2B68039C-1178-49D3-A703-043656ADB7A6}" type="parTrans" cxnId="{A793557B-76D8-48EE-86DF-BA589252502A}">
      <dgm:prSet/>
      <dgm:spPr/>
      <dgm:t>
        <a:bodyPr/>
        <a:lstStyle/>
        <a:p>
          <a:endParaRPr lang="en-IN" sz="2000"/>
        </a:p>
      </dgm:t>
    </dgm:pt>
    <dgm:pt modelId="{C36145E2-66C9-43B0-8558-D93A532DA17C}" type="sibTrans" cxnId="{A793557B-76D8-48EE-86DF-BA589252502A}">
      <dgm:prSet/>
      <dgm:spPr/>
      <dgm:t>
        <a:bodyPr/>
        <a:lstStyle/>
        <a:p>
          <a:endParaRPr lang="en-IN" sz="2000"/>
        </a:p>
      </dgm:t>
    </dgm:pt>
    <dgm:pt modelId="{EB4BCB25-5C6C-4F6E-913C-FD3A82AF3B1A}">
      <dgm:prSet phldrT="[Text]" custT="1"/>
      <dgm:spPr/>
      <dgm:t>
        <a:bodyPr/>
        <a:lstStyle/>
        <a:p>
          <a:r>
            <a:rPr lang="en-US" sz="2000" b="1" dirty="0"/>
            <a:t>Ex : SPHINCS+</a:t>
          </a:r>
          <a:endParaRPr lang="en-IN" sz="2000" b="1" dirty="0"/>
        </a:p>
      </dgm:t>
    </dgm:pt>
    <dgm:pt modelId="{C9D73220-347B-4391-9696-2B1E1A07749B}" type="parTrans" cxnId="{3AE11F25-B5E4-4632-83E3-74A1CE36A6EE}">
      <dgm:prSet/>
      <dgm:spPr/>
      <dgm:t>
        <a:bodyPr/>
        <a:lstStyle/>
        <a:p>
          <a:endParaRPr lang="en-IN" sz="2000"/>
        </a:p>
      </dgm:t>
    </dgm:pt>
    <dgm:pt modelId="{0761AC39-3FF3-4CDB-A52A-17D741313E86}" type="sibTrans" cxnId="{3AE11F25-B5E4-4632-83E3-74A1CE36A6EE}">
      <dgm:prSet/>
      <dgm:spPr/>
      <dgm:t>
        <a:bodyPr/>
        <a:lstStyle/>
        <a:p>
          <a:endParaRPr lang="en-IN" sz="2000"/>
        </a:p>
      </dgm:t>
    </dgm:pt>
    <dgm:pt modelId="{17C38971-EF6F-443C-B09A-7D8AE3E4B9EA}">
      <dgm:prSet phldrT="[Text]" custT="1"/>
      <dgm:spPr/>
      <dgm:t>
        <a:bodyPr/>
        <a:lstStyle/>
        <a:p>
          <a:r>
            <a:rPr lang="en-US" sz="2000" dirty="0"/>
            <a:t>Code-Based Cryptography</a:t>
          </a:r>
          <a:endParaRPr lang="en-IN" sz="2000" dirty="0"/>
        </a:p>
      </dgm:t>
    </dgm:pt>
    <dgm:pt modelId="{859B28F4-132E-4A12-8238-6A4A13A3F0E4}" type="parTrans" cxnId="{978D1D00-DA72-422A-AF9B-DC87DA98B1F6}">
      <dgm:prSet/>
      <dgm:spPr/>
      <dgm:t>
        <a:bodyPr/>
        <a:lstStyle/>
        <a:p>
          <a:endParaRPr lang="en-IN" sz="2000"/>
        </a:p>
      </dgm:t>
    </dgm:pt>
    <dgm:pt modelId="{57B789AF-EED6-4E6F-9999-887F301CC50D}" type="sibTrans" cxnId="{978D1D00-DA72-422A-AF9B-DC87DA98B1F6}">
      <dgm:prSet/>
      <dgm:spPr/>
      <dgm:t>
        <a:bodyPr/>
        <a:lstStyle/>
        <a:p>
          <a:endParaRPr lang="en-IN" sz="2000"/>
        </a:p>
      </dgm:t>
    </dgm:pt>
    <dgm:pt modelId="{FB45AF57-98D0-4023-8EDF-6995FF74F7DD}">
      <dgm:prSet phldrT="[Text]" custT="1"/>
      <dgm:spPr/>
      <dgm:t>
        <a:bodyPr/>
        <a:lstStyle/>
        <a:p>
          <a:r>
            <a:rPr lang="en-US" sz="2000" dirty="0"/>
            <a:t>It is based on error-correcting codes  offers excellent security but often suffers from large key sizes.</a:t>
          </a:r>
          <a:endParaRPr lang="en-IN" sz="2000" dirty="0"/>
        </a:p>
      </dgm:t>
    </dgm:pt>
    <dgm:pt modelId="{38212F2A-24C3-483F-9630-66FC6BC3C34E}" type="parTrans" cxnId="{43BAB634-22C6-4104-8B66-2A57432B9C68}">
      <dgm:prSet/>
      <dgm:spPr/>
      <dgm:t>
        <a:bodyPr/>
        <a:lstStyle/>
        <a:p>
          <a:endParaRPr lang="en-IN" sz="2000"/>
        </a:p>
      </dgm:t>
    </dgm:pt>
    <dgm:pt modelId="{697EAC0F-CAB8-43F5-BDBA-B872D27C5513}" type="sibTrans" cxnId="{43BAB634-22C6-4104-8B66-2A57432B9C68}">
      <dgm:prSet/>
      <dgm:spPr/>
      <dgm:t>
        <a:bodyPr/>
        <a:lstStyle/>
        <a:p>
          <a:endParaRPr lang="en-IN" sz="2000"/>
        </a:p>
      </dgm:t>
    </dgm:pt>
    <dgm:pt modelId="{B0BDDB3A-C397-4486-A4BF-A5E488F196A0}">
      <dgm:prSet phldrT="[Text]" custT="1"/>
      <dgm:spPr/>
      <dgm:t>
        <a:bodyPr/>
        <a:lstStyle/>
        <a:p>
          <a:r>
            <a:rPr lang="en-US" sz="2000" b="1" dirty="0"/>
            <a:t>Ex : Classic </a:t>
          </a:r>
          <a:r>
            <a:rPr lang="en-US" sz="2000" b="1" dirty="0" err="1"/>
            <a:t>McEliece</a:t>
          </a:r>
          <a:endParaRPr lang="en-IN" sz="2000" b="1" dirty="0"/>
        </a:p>
      </dgm:t>
    </dgm:pt>
    <dgm:pt modelId="{BAA9789D-7AE5-4C4B-BDF5-5739C6D3B36A}" type="parTrans" cxnId="{345D4011-6AB9-43AD-9546-F2BF2217A063}">
      <dgm:prSet/>
      <dgm:spPr/>
      <dgm:t>
        <a:bodyPr/>
        <a:lstStyle/>
        <a:p>
          <a:endParaRPr lang="en-IN" sz="2000"/>
        </a:p>
      </dgm:t>
    </dgm:pt>
    <dgm:pt modelId="{EF002785-8017-4D8D-958D-116C162FB6C8}" type="sibTrans" cxnId="{345D4011-6AB9-43AD-9546-F2BF2217A063}">
      <dgm:prSet/>
      <dgm:spPr/>
      <dgm:t>
        <a:bodyPr/>
        <a:lstStyle/>
        <a:p>
          <a:endParaRPr lang="en-IN" sz="2000"/>
        </a:p>
      </dgm:t>
    </dgm:pt>
    <dgm:pt modelId="{EBE5AA27-D32D-404B-9B67-0421F9905ED3}">
      <dgm:prSet phldrT="[Text]" custT="1"/>
      <dgm:spPr/>
      <dgm:t>
        <a:bodyPr/>
        <a:lstStyle/>
        <a:p>
          <a:r>
            <a:rPr lang="en-US" sz="2000" dirty="0"/>
            <a:t>Lattice-Based Cryptography</a:t>
          </a:r>
          <a:endParaRPr lang="en-IN" sz="2000" dirty="0"/>
        </a:p>
      </dgm:t>
    </dgm:pt>
    <dgm:pt modelId="{5C107838-9B2E-4B84-A4D4-F59E94D64BF7}" type="parTrans" cxnId="{177AD7EA-1091-45D5-A12A-1F0F82BDB5E2}">
      <dgm:prSet/>
      <dgm:spPr/>
      <dgm:t>
        <a:bodyPr/>
        <a:lstStyle/>
        <a:p>
          <a:endParaRPr lang="en-IN" sz="2000"/>
        </a:p>
      </dgm:t>
    </dgm:pt>
    <dgm:pt modelId="{924D11A5-CF86-419E-9FDE-C864D2EF513B}" type="sibTrans" cxnId="{177AD7EA-1091-45D5-A12A-1F0F82BDB5E2}">
      <dgm:prSet/>
      <dgm:spPr/>
      <dgm:t>
        <a:bodyPr/>
        <a:lstStyle/>
        <a:p>
          <a:endParaRPr lang="en-IN" sz="2000"/>
        </a:p>
      </dgm:t>
    </dgm:pt>
    <dgm:pt modelId="{707D16EE-B776-4097-92A2-63250E01CB89}">
      <dgm:prSet phldrT="[Text]" custT="1"/>
      <dgm:spPr/>
      <dgm:t>
        <a:bodyPr/>
        <a:lstStyle/>
        <a:p>
          <a:r>
            <a:rPr lang="en-US" sz="2000" dirty="0"/>
            <a:t>It relies on hard mathematical problems. It has high computational efficiency &amp; strong security.</a:t>
          </a:r>
          <a:endParaRPr lang="en-IN" sz="2000" dirty="0"/>
        </a:p>
      </dgm:t>
    </dgm:pt>
    <dgm:pt modelId="{573C83CA-3F62-456B-BC07-D7DF099B67B2}" type="parTrans" cxnId="{EFD1888E-A225-4E14-9EA6-EC127F7B151B}">
      <dgm:prSet/>
      <dgm:spPr/>
      <dgm:t>
        <a:bodyPr/>
        <a:lstStyle/>
        <a:p>
          <a:endParaRPr lang="en-IN" sz="2000"/>
        </a:p>
      </dgm:t>
    </dgm:pt>
    <dgm:pt modelId="{758F66A4-A47F-430F-B1EC-D1D51042AFEE}" type="sibTrans" cxnId="{EFD1888E-A225-4E14-9EA6-EC127F7B151B}">
      <dgm:prSet/>
      <dgm:spPr/>
      <dgm:t>
        <a:bodyPr/>
        <a:lstStyle/>
        <a:p>
          <a:endParaRPr lang="en-IN" sz="2000"/>
        </a:p>
      </dgm:t>
    </dgm:pt>
    <dgm:pt modelId="{2614BBA8-15FB-4466-84EF-83DF3DF63A19}">
      <dgm:prSet phldrT="[Text]" custT="1"/>
      <dgm:spPr/>
      <dgm:t>
        <a:bodyPr/>
        <a:lstStyle/>
        <a:p>
          <a:r>
            <a:rPr lang="en-US" sz="2000" b="1" dirty="0"/>
            <a:t>Ex : CRYSTALS-KYBER, SABER</a:t>
          </a:r>
          <a:endParaRPr lang="en-IN" sz="2000" b="1" dirty="0"/>
        </a:p>
      </dgm:t>
    </dgm:pt>
    <dgm:pt modelId="{C96A5292-7B2F-4713-940F-7D3205F45BC6}" type="parTrans" cxnId="{B4A34B81-6D98-4812-96AC-3C44464B27C5}">
      <dgm:prSet/>
      <dgm:spPr/>
      <dgm:t>
        <a:bodyPr/>
        <a:lstStyle/>
        <a:p>
          <a:endParaRPr lang="en-IN" sz="2000"/>
        </a:p>
      </dgm:t>
    </dgm:pt>
    <dgm:pt modelId="{2FAEA43C-074C-4151-9B28-1039617EC1F6}" type="sibTrans" cxnId="{B4A34B81-6D98-4812-96AC-3C44464B27C5}">
      <dgm:prSet/>
      <dgm:spPr/>
      <dgm:t>
        <a:bodyPr/>
        <a:lstStyle/>
        <a:p>
          <a:endParaRPr lang="en-IN" sz="2000"/>
        </a:p>
      </dgm:t>
    </dgm:pt>
    <dgm:pt modelId="{B2BCF7D9-357B-4C4D-BDB8-346B9A705254}">
      <dgm:prSet custT="1"/>
      <dgm:spPr/>
      <dgm:t>
        <a:bodyPr/>
        <a:lstStyle/>
        <a:p>
          <a:r>
            <a:rPr lang="en-US" sz="2000" dirty="0"/>
            <a:t>Multivariate Cryptography</a:t>
          </a:r>
          <a:endParaRPr lang="en-IN" sz="2000" dirty="0"/>
        </a:p>
      </dgm:t>
    </dgm:pt>
    <dgm:pt modelId="{3B9DA377-03CB-46C7-93F4-08FDA0796E60}" type="parTrans" cxnId="{17731280-18C2-407C-98A3-D9B16A4092CC}">
      <dgm:prSet/>
      <dgm:spPr/>
      <dgm:t>
        <a:bodyPr/>
        <a:lstStyle/>
        <a:p>
          <a:endParaRPr lang="en-IN" sz="2000"/>
        </a:p>
      </dgm:t>
    </dgm:pt>
    <dgm:pt modelId="{BB161094-4E01-40C8-87A7-DA693F0080C3}" type="sibTrans" cxnId="{17731280-18C2-407C-98A3-D9B16A4092CC}">
      <dgm:prSet/>
      <dgm:spPr/>
      <dgm:t>
        <a:bodyPr/>
        <a:lstStyle/>
        <a:p>
          <a:endParaRPr lang="en-IN" sz="2000"/>
        </a:p>
      </dgm:t>
    </dgm:pt>
    <dgm:pt modelId="{A0456FE1-D3D4-4AF8-B9B3-E1EE726F6097}">
      <dgm:prSet custT="1"/>
      <dgm:spPr/>
      <dgm:t>
        <a:bodyPr/>
        <a:lstStyle/>
        <a:p>
          <a:r>
            <a:rPr lang="en-US" sz="2000" dirty="0"/>
            <a:t>Isogeny-Based Cryptography</a:t>
          </a:r>
          <a:endParaRPr lang="en-IN" sz="2000" dirty="0"/>
        </a:p>
      </dgm:t>
    </dgm:pt>
    <dgm:pt modelId="{67E6EA6B-06AC-4D0A-A54E-D9DFDE4F0B1D}" type="parTrans" cxnId="{E90975E7-03E2-4B95-BCC8-8BCF4D3544E9}">
      <dgm:prSet/>
      <dgm:spPr/>
      <dgm:t>
        <a:bodyPr/>
        <a:lstStyle/>
        <a:p>
          <a:endParaRPr lang="en-IN" sz="2000"/>
        </a:p>
      </dgm:t>
    </dgm:pt>
    <dgm:pt modelId="{DA029E17-CB54-4733-8B05-22F5EF215B9B}" type="sibTrans" cxnId="{E90975E7-03E2-4B95-BCC8-8BCF4D3544E9}">
      <dgm:prSet/>
      <dgm:spPr/>
      <dgm:t>
        <a:bodyPr/>
        <a:lstStyle/>
        <a:p>
          <a:endParaRPr lang="en-IN" sz="2000"/>
        </a:p>
      </dgm:t>
    </dgm:pt>
    <dgm:pt modelId="{AA5DB638-89D2-477D-9B26-528756B98008}">
      <dgm:prSet custT="1"/>
      <dgm:spPr/>
      <dgm:t>
        <a:bodyPr/>
        <a:lstStyle/>
        <a:p>
          <a:r>
            <a:rPr lang="en-US" sz="2000" dirty="0"/>
            <a:t>It utilizes the difficulty of solving multivariate polynomial equations over finite fields.</a:t>
          </a:r>
          <a:endParaRPr lang="en-IN" sz="2000" dirty="0"/>
        </a:p>
      </dgm:t>
    </dgm:pt>
    <dgm:pt modelId="{38A50C4F-98EA-4238-8F20-F03336C9D892}" type="parTrans" cxnId="{D6F2797B-25B7-45B2-A726-1282BE210D6D}">
      <dgm:prSet/>
      <dgm:spPr/>
      <dgm:t>
        <a:bodyPr/>
        <a:lstStyle/>
        <a:p>
          <a:endParaRPr lang="en-IN" sz="2000"/>
        </a:p>
      </dgm:t>
    </dgm:pt>
    <dgm:pt modelId="{195F92E1-0B0A-4073-AE83-18CA4DB1D283}" type="sibTrans" cxnId="{D6F2797B-25B7-45B2-A726-1282BE210D6D}">
      <dgm:prSet/>
      <dgm:spPr/>
      <dgm:t>
        <a:bodyPr/>
        <a:lstStyle/>
        <a:p>
          <a:endParaRPr lang="en-IN" sz="2000"/>
        </a:p>
      </dgm:t>
    </dgm:pt>
    <dgm:pt modelId="{AABBCC77-C389-4DAA-BBDB-AEF56CAE9B25}">
      <dgm:prSet custT="1"/>
      <dgm:spPr/>
      <dgm:t>
        <a:bodyPr/>
        <a:lstStyle/>
        <a:p>
          <a:r>
            <a:rPr lang="en-US" sz="2000" b="1" dirty="0"/>
            <a:t>Ex : Rainbow</a:t>
          </a:r>
          <a:endParaRPr lang="en-IN" sz="2000" b="1" dirty="0"/>
        </a:p>
      </dgm:t>
    </dgm:pt>
    <dgm:pt modelId="{5425716B-77DA-4554-B66E-59A2F9AA3B6C}" type="parTrans" cxnId="{44BAF3B2-E4A2-4905-90DB-F84AB2D8C8F0}">
      <dgm:prSet/>
      <dgm:spPr/>
      <dgm:t>
        <a:bodyPr/>
        <a:lstStyle/>
        <a:p>
          <a:endParaRPr lang="en-IN" sz="2000"/>
        </a:p>
      </dgm:t>
    </dgm:pt>
    <dgm:pt modelId="{FC524B68-3E25-4D42-9467-6D3330AD44A3}" type="sibTrans" cxnId="{44BAF3B2-E4A2-4905-90DB-F84AB2D8C8F0}">
      <dgm:prSet/>
      <dgm:spPr/>
      <dgm:t>
        <a:bodyPr/>
        <a:lstStyle/>
        <a:p>
          <a:endParaRPr lang="en-IN" sz="2000"/>
        </a:p>
      </dgm:t>
    </dgm:pt>
    <dgm:pt modelId="{420955D7-4DA5-43CE-B9BB-D34AE4DD34D7}">
      <dgm:prSet custT="1"/>
      <dgm:spPr/>
      <dgm:t>
        <a:bodyPr/>
        <a:lstStyle/>
        <a:p>
          <a:r>
            <a:rPr lang="en-US" sz="2000" dirty="0"/>
            <a:t>It leverages the hardness of finding isogenies between elliptic curves.</a:t>
          </a:r>
          <a:endParaRPr lang="en-IN" sz="2000" dirty="0"/>
        </a:p>
      </dgm:t>
    </dgm:pt>
    <dgm:pt modelId="{53DCE3CE-ED22-41AA-A4ED-99DE9A6BE5FC}" type="parTrans" cxnId="{66A28BDD-A686-48C6-8A5D-A0EA8113037B}">
      <dgm:prSet/>
      <dgm:spPr/>
      <dgm:t>
        <a:bodyPr/>
        <a:lstStyle/>
        <a:p>
          <a:endParaRPr lang="en-IN" sz="2000"/>
        </a:p>
      </dgm:t>
    </dgm:pt>
    <dgm:pt modelId="{BB298B6C-4157-43CD-B0BD-6E2713518F88}" type="sibTrans" cxnId="{66A28BDD-A686-48C6-8A5D-A0EA8113037B}">
      <dgm:prSet/>
      <dgm:spPr/>
      <dgm:t>
        <a:bodyPr/>
        <a:lstStyle/>
        <a:p>
          <a:endParaRPr lang="en-IN" sz="2000"/>
        </a:p>
      </dgm:t>
    </dgm:pt>
    <dgm:pt modelId="{D7E2E32B-56B5-4EBB-B369-48A7F22163DF}">
      <dgm:prSet custT="1"/>
      <dgm:spPr/>
      <dgm:t>
        <a:bodyPr/>
        <a:lstStyle/>
        <a:p>
          <a:r>
            <a:rPr lang="en-US" sz="2000" b="1" dirty="0"/>
            <a:t>Ex : SIKE</a:t>
          </a:r>
          <a:endParaRPr lang="en-IN" sz="2000" b="1" dirty="0"/>
        </a:p>
      </dgm:t>
    </dgm:pt>
    <dgm:pt modelId="{85EDBA76-E839-4B3D-992C-03779CF4FA8E}" type="parTrans" cxnId="{A1BABFF6-1619-4A15-840E-EEA3DAE6CA37}">
      <dgm:prSet/>
      <dgm:spPr/>
      <dgm:t>
        <a:bodyPr/>
        <a:lstStyle/>
        <a:p>
          <a:endParaRPr lang="en-IN" sz="2000"/>
        </a:p>
      </dgm:t>
    </dgm:pt>
    <dgm:pt modelId="{7CF97EEE-6A00-48DC-AD9A-536910837799}" type="sibTrans" cxnId="{A1BABFF6-1619-4A15-840E-EEA3DAE6CA37}">
      <dgm:prSet/>
      <dgm:spPr/>
      <dgm:t>
        <a:bodyPr/>
        <a:lstStyle/>
        <a:p>
          <a:endParaRPr lang="en-IN" sz="2000"/>
        </a:p>
      </dgm:t>
    </dgm:pt>
    <dgm:pt modelId="{95827524-6374-4292-A8C1-15C49BA6B484}">
      <dgm:prSet phldrT="[Text]" custT="1"/>
      <dgm:spPr/>
      <dgm:t>
        <a:bodyPr/>
        <a:lstStyle/>
        <a:p>
          <a:endParaRPr lang="en-IN" sz="2000" dirty="0"/>
        </a:p>
      </dgm:t>
    </dgm:pt>
    <dgm:pt modelId="{A5B6D17B-1CF4-4846-9052-D2AD804FA404}" type="parTrans" cxnId="{A4758A5C-D56E-4D75-81D7-B8C8327D24FE}">
      <dgm:prSet/>
      <dgm:spPr/>
      <dgm:t>
        <a:bodyPr/>
        <a:lstStyle/>
        <a:p>
          <a:endParaRPr lang="en-IN"/>
        </a:p>
      </dgm:t>
    </dgm:pt>
    <dgm:pt modelId="{5FFBBAD7-ADB4-4E1F-9F4E-4103FE907FB5}" type="sibTrans" cxnId="{A4758A5C-D56E-4D75-81D7-B8C8327D24FE}">
      <dgm:prSet/>
      <dgm:spPr/>
      <dgm:t>
        <a:bodyPr/>
        <a:lstStyle/>
        <a:p>
          <a:endParaRPr lang="en-IN"/>
        </a:p>
      </dgm:t>
    </dgm:pt>
    <dgm:pt modelId="{C5BC2122-A520-4548-8F17-8D5779B50B80}">
      <dgm:prSet phldrT="[Text]" custT="1"/>
      <dgm:spPr/>
      <dgm:t>
        <a:bodyPr/>
        <a:lstStyle/>
        <a:p>
          <a:endParaRPr lang="en-IN" sz="2000" dirty="0"/>
        </a:p>
      </dgm:t>
    </dgm:pt>
    <dgm:pt modelId="{4B660E9F-B812-483D-9D25-B207A7D7D0D3}" type="parTrans" cxnId="{08AEA5E7-6BB5-4CA9-9409-D56FAECA8B3E}">
      <dgm:prSet/>
      <dgm:spPr/>
      <dgm:t>
        <a:bodyPr/>
        <a:lstStyle/>
        <a:p>
          <a:endParaRPr lang="en-IN"/>
        </a:p>
      </dgm:t>
    </dgm:pt>
    <dgm:pt modelId="{C666F77C-A127-487F-BBA3-CCA0D0A21AC7}" type="sibTrans" cxnId="{08AEA5E7-6BB5-4CA9-9409-D56FAECA8B3E}">
      <dgm:prSet/>
      <dgm:spPr/>
      <dgm:t>
        <a:bodyPr/>
        <a:lstStyle/>
        <a:p>
          <a:endParaRPr lang="en-IN"/>
        </a:p>
      </dgm:t>
    </dgm:pt>
    <dgm:pt modelId="{EB4337D8-BD94-4AF1-B105-83F72BF98EC8}">
      <dgm:prSet phldrT="[Text]" custT="1"/>
      <dgm:spPr/>
      <dgm:t>
        <a:bodyPr/>
        <a:lstStyle/>
        <a:p>
          <a:endParaRPr lang="en-IN" sz="2000" dirty="0"/>
        </a:p>
      </dgm:t>
    </dgm:pt>
    <dgm:pt modelId="{00C94DA9-DAD7-4AB9-A081-54B1C19B903E}" type="parTrans" cxnId="{3E2C58C2-3CF7-4D9D-8946-65F42281DCCA}">
      <dgm:prSet/>
      <dgm:spPr/>
      <dgm:t>
        <a:bodyPr/>
        <a:lstStyle/>
        <a:p>
          <a:endParaRPr lang="en-IN"/>
        </a:p>
      </dgm:t>
    </dgm:pt>
    <dgm:pt modelId="{3E500711-DC58-46B1-B578-4CFC89A73909}" type="sibTrans" cxnId="{3E2C58C2-3CF7-4D9D-8946-65F42281DCCA}">
      <dgm:prSet/>
      <dgm:spPr/>
      <dgm:t>
        <a:bodyPr/>
        <a:lstStyle/>
        <a:p>
          <a:endParaRPr lang="en-IN"/>
        </a:p>
      </dgm:t>
    </dgm:pt>
    <dgm:pt modelId="{F8CD645A-A87A-4E2D-81AA-988847EE58BA}">
      <dgm:prSet custT="1"/>
      <dgm:spPr/>
      <dgm:t>
        <a:bodyPr/>
        <a:lstStyle/>
        <a:p>
          <a:endParaRPr lang="en-IN" sz="2000" dirty="0"/>
        </a:p>
      </dgm:t>
    </dgm:pt>
    <dgm:pt modelId="{7D6B6A59-5A1E-4058-8DAA-A9FA4EDAA3B5}" type="parTrans" cxnId="{7DD71B28-83FB-43C8-86FA-57059758BC02}">
      <dgm:prSet/>
      <dgm:spPr/>
      <dgm:t>
        <a:bodyPr/>
        <a:lstStyle/>
        <a:p>
          <a:endParaRPr lang="en-IN"/>
        </a:p>
      </dgm:t>
    </dgm:pt>
    <dgm:pt modelId="{6344E7AC-7CDC-4594-A741-1108B4379F51}" type="sibTrans" cxnId="{7DD71B28-83FB-43C8-86FA-57059758BC02}">
      <dgm:prSet/>
      <dgm:spPr/>
      <dgm:t>
        <a:bodyPr/>
        <a:lstStyle/>
        <a:p>
          <a:endParaRPr lang="en-IN"/>
        </a:p>
      </dgm:t>
    </dgm:pt>
    <dgm:pt modelId="{A48844A9-CB33-4B85-94D3-29874AB4B075}">
      <dgm:prSet custT="1"/>
      <dgm:spPr/>
      <dgm:t>
        <a:bodyPr/>
        <a:lstStyle/>
        <a:p>
          <a:endParaRPr lang="en-IN" sz="2000" dirty="0"/>
        </a:p>
      </dgm:t>
    </dgm:pt>
    <dgm:pt modelId="{DC3BC4C2-BF43-4AE6-9002-3A392325792B}" type="parTrans" cxnId="{61C5CCF4-19E8-4924-A847-559ACA3AC416}">
      <dgm:prSet/>
      <dgm:spPr/>
      <dgm:t>
        <a:bodyPr/>
        <a:lstStyle/>
        <a:p>
          <a:endParaRPr lang="en-IN"/>
        </a:p>
      </dgm:t>
    </dgm:pt>
    <dgm:pt modelId="{558569B7-6203-450E-9902-BED81D0B3758}" type="sibTrans" cxnId="{61C5CCF4-19E8-4924-A847-559ACA3AC416}">
      <dgm:prSet/>
      <dgm:spPr/>
      <dgm:t>
        <a:bodyPr/>
        <a:lstStyle/>
        <a:p>
          <a:endParaRPr lang="en-IN"/>
        </a:p>
      </dgm:t>
    </dgm:pt>
    <dgm:pt modelId="{ADD7BB83-1409-44E8-810A-86C84B36EE14}" type="pres">
      <dgm:prSet presAssocID="{CA250597-950B-4420-BEC1-CC8FB8898989}" presName="Name0" presStyleCnt="0">
        <dgm:presLayoutVars>
          <dgm:dir/>
          <dgm:animLvl val="lvl"/>
          <dgm:resizeHandles val="exact"/>
        </dgm:presLayoutVars>
      </dgm:prSet>
      <dgm:spPr/>
    </dgm:pt>
    <dgm:pt modelId="{DF771648-EF9A-453A-8602-663FD2A8E757}" type="pres">
      <dgm:prSet presAssocID="{EBE5AA27-D32D-404B-9B67-0421F9905ED3}" presName="composite" presStyleCnt="0"/>
      <dgm:spPr/>
    </dgm:pt>
    <dgm:pt modelId="{4A274FCF-6305-4C68-A8BA-53A524DB2EA5}" type="pres">
      <dgm:prSet presAssocID="{EBE5AA27-D32D-404B-9B67-0421F9905ED3}" presName="parTx" presStyleLbl="alignNode1" presStyleIdx="0" presStyleCnt="5">
        <dgm:presLayoutVars>
          <dgm:chMax val="0"/>
          <dgm:chPref val="0"/>
          <dgm:bulletEnabled val="1"/>
        </dgm:presLayoutVars>
      </dgm:prSet>
      <dgm:spPr/>
    </dgm:pt>
    <dgm:pt modelId="{4F0462F8-7855-49CD-A47D-4D20460FAF8D}" type="pres">
      <dgm:prSet presAssocID="{EBE5AA27-D32D-404B-9B67-0421F9905ED3}" presName="desTx" presStyleLbl="alignAccFollowNode1" presStyleIdx="0" presStyleCnt="5">
        <dgm:presLayoutVars>
          <dgm:bulletEnabled val="1"/>
        </dgm:presLayoutVars>
      </dgm:prSet>
      <dgm:spPr/>
    </dgm:pt>
    <dgm:pt modelId="{AD50C52D-ACC9-4740-B9C1-0719B3699BC3}" type="pres">
      <dgm:prSet presAssocID="{924D11A5-CF86-419E-9FDE-C864D2EF513B}" presName="space" presStyleCnt="0"/>
      <dgm:spPr/>
    </dgm:pt>
    <dgm:pt modelId="{C2B533A7-32BB-43D8-9413-4CD87020B835}" type="pres">
      <dgm:prSet presAssocID="{17C38971-EF6F-443C-B09A-7D8AE3E4B9EA}" presName="composite" presStyleCnt="0"/>
      <dgm:spPr/>
    </dgm:pt>
    <dgm:pt modelId="{7E1546A6-1EB0-42B0-A304-4181810B726E}" type="pres">
      <dgm:prSet presAssocID="{17C38971-EF6F-443C-B09A-7D8AE3E4B9EA}" presName="parTx" presStyleLbl="alignNode1" presStyleIdx="1" presStyleCnt="5">
        <dgm:presLayoutVars>
          <dgm:chMax val="0"/>
          <dgm:chPref val="0"/>
          <dgm:bulletEnabled val="1"/>
        </dgm:presLayoutVars>
      </dgm:prSet>
      <dgm:spPr/>
    </dgm:pt>
    <dgm:pt modelId="{F5593874-3C54-4380-85E5-3A1CCB95964D}" type="pres">
      <dgm:prSet presAssocID="{17C38971-EF6F-443C-B09A-7D8AE3E4B9EA}" presName="desTx" presStyleLbl="alignAccFollowNode1" presStyleIdx="1" presStyleCnt="5">
        <dgm:presLayoutVars>
          <dgm:bulletEnabled val="1"/>
        </dgm:presLayoutVars>
      </dgm:prSet>
      <dgm:spPr/>
    </dgm:pt>
    <dgm:pt modelId="{8988626F-96B5-457B-8F67-6FCE8E8E2767}" type="pres">
      <dgm:prSet presAssocID="{57B789AF-EED6-4E6F-9999-887F301CC50D}" presName="space" presStyleCnt="0"/>
      <dgm:spPr/>
    </dgm:pt>
    <dgm:pt modelId="{42DAD8B7-587B-45F0-B5E4-9D431A530CAB}" type="pres">
      <dgm:prSet presAssocID="{10EDD588-B4F9-433E-B8D6-2E518220B8DC}" presName="composite" presStyleCnt="0"/>
      <dgm:spPr/>
    </dgm:pt>
    <dgm:pt modelId="{8DA981BB-3F70-4803-B164-A8F4A72E1CC5}" type="pres">
      <dgm:prSet presAssocID="{10EDD588-B4F9-433E-B8D6-2E518220B8DC}" presName="parTx" presStyleLbl="alignNode1" presStyleIdx="2" presStyleCnt="5">
        <dgm:presLayoutVars>
          <dgm:chMax val="0"/>
          <dgm:chPref val="0"/>
          <dgm:bulletEnabled val="1"/>
        </dgm:presLayoutVars>
      </dgm:prSet>
      <dgm:spPr/>
    </dgm:pt>
    <dgm:pt modelId="{1951C42D-467A-4D35-A8B3-41BEBED91ECD}" type="pres">
      <dgm:prSet presAssocID="{10EDD588-B4F9-433E-B8D6-2E518220B8DC}" presName="desTx" presStyleLbl="alignAccFollowNode1" presStyleIdx="2" presStyleCnt="5">
        <dgm:presLayoutVars>
          <dgm:bulletEnabled val="1"/>
        </dgm:presLayoutVars>
      </dgm:prSet>
      <dgm:spPr/>
    </dgm:pt>
    <dgm:pt modelId="{59B88EA4-FB33-411F-B56D-F9FA0E497B2D}" type="pres">
      <dgm:prSet presAssocID="{8F367764-3311-49AD-99BF-86E6718B217B}" presName="space" presStyleCnt="0"/>
      <dgm:spPr/>
    </dgm:pt>
    <dgm:pt modelId="{3C401ED8-48DE-48E9-B0DE-E8319C7301D3}" type="pres">
      <dgm:prSet presAssocID="{B2BCF7D9-357B-4C4D-BDB8-346B9A705254}" presName="composite" presStyleCnt="0"/>
      <dgm:spPr/>
    </dgm:pt>
    <dgm:pt modelId="{1A187967-6C40-4A1A-B3FF-C50EFDB18F23}" type="pres">
      <dgm:prSet presAssocID="{B2BCF7D9-357B-4C4D-BDB8-346B9A705254}" presName="parTx" presStyleLbl="alignNode1" presStyleIdx="3" presStyleCnt="5">
        <dgm:presLayoutVars>
          <dgm:chMax val="0"/>
          <dgm:chPref val="0"/>
          <dgm:bulletEnabled val="1"/>
        </dgm:presLayoutVars>
      </dgm:prSet>
      <dgm:spPr/>
    </dgm:pt>
    <dgm:pt modelId="{0E8F9A3E-CA0C-495F-B394-9C284E9451DE}" type="pres">
      <dgm:prSet presAssocID="{B2BCF7D9-357B-4C4D-BDB8-346B9A705254}" presName="desTx" presStyleLbl="alignAccFollowNode1" presStyleIdx="3" presStyleCnt="5">
        <dgm:presLayoutVars>
          <dgm:bulletEnabled val="1"/>
        </dgm:presLayoutVars>
      </dgm:prSet>
      <dgm:spPr/>
    </dgm:pt>
    <dgm:pt modelId="{B11A4F68-5B77-494F-B632-521010C26F32}" type="pres">
      <dgm:prSet presAssocID="{BB161094-4E01-40C8-87A7-DA693F0080C3}" presName="space" presStyleCnt="0"/>
      <dgm:spPr/>
    </dgm:pt>
    <dgm:pt modelId="{C54B82AA-A5E3-41DD-A8C6-33F9A927F074}" type="pres">
      <dgm:prSet presAssocID="{A0456FE1-D3D4-4AF8-B9B3-E1EE726F6097}" presName="composite" presStyleCnt="0"/>
      <dgm:spPr/>
    </dgm:pt>
    <dgm:pt modelId="{C27E9F59-08B8-4F4D-9112-4415848848FA}" type="pres">
      <dgm:prSet presAssocID="{A0456FE1-D3D4-4AF8-B9B3-E1EE726F6097}" presName="parTx" presStyleLbl="alignNode1" presStyleIdx="4" presStyleCnt="5">
        <dgm:presLayoutVars>
          <dgm:chMax val="0"/>
          <dgm:chPref val="0"/>
          <dgm:bulletEnabled val="1"/>
        </dgm:presLayoutVars>
      </dgm:prSet>
      <dgm:spPr/>
    </dgm:pt>
    <dgm:pt modelId="{AC587E90-1514-4031-AFBB-0C38EA69068D}" type="pres">
      <dgm:prSet presAssocID="{A0456FE1-D3D4-4AF8-B9B3-E1EE726F6097}" presName="desTx" presStyleLbl="alignAccFollowNode1" presStyleIdx="4" presStyleCnt="5">
        <dgm:presLayoutVars>
          <dgm:bulletEnabled val="1"/>
        </dgm:presLayoutVars>
      </dgm:prSet>
      <dgm:spPr/>
    </dgm:pt>
  </dgm:ptLst>
  <dgm:cxnLst>
    <dgm:cxn modelId="{978D1D00-DA72-422A-AF9B-DC87DA98B1F6}" srcId="{CA250597-950B-4420-BEC1-CC8FB8898989}" destId="{17C38971-EF6F-443C-B09A-7D8AE3E4B9EA}" srcOrd="1" destOrd="0" parTransId="{859B28F4-132E-4A12-8238-6A4A13A3F0E4}" sibTransId="{57B789AF-EED6-4E6F-9999-887F301CC50D}"/>
    <dgm:cxn modelId="{93E94605-E4C9-4E31-BE30-EA4987A4768B}" type="presOf" srcId="{AA5DB638-89D2-477D-9B26-528756B98008}" destId="{0E8F9A3E-CA0C-495F-B394-9C284E9451DE}" srcOrd="0" destOrd="0" presId="urn:microsoft.com/office/officeart/2005/8/layout/hList1"/>
    <dgm:cxn modelId="{9A206909-BC1D-48A0-BB60-118D5ACCEACF}" type="presOf" srcId="{7F7A0CA2-06F0-4F39-B619-4C127E5E0C13}" destId="{1951C42D-467A-4D35-A8B3-41BEBED91ECD}" srcOrd="0" destOrd="0" presId="urn:microsoft.com/office/officeart/2005/8/layout/hList1"/>
    <dgm:cxn modelId="{345D4011-6AB9-43AD-9546-F2BF2217A063}" srcId="{17C38971-EF6F-443C-B09A-7D8AE3E4B9EA}" destId="{B0BDDB3A-C397-4486-A4BF-A5E488F196A0}" srcOrd="2" destOrd="0" parTransId="{BAA9789D-7AE5-4C4B-BDF5-5739C6D3B36A}" sibTransId="{EF002785-8017-4D8D-958D-116C162FB6C8}"/>
    <dgm:cxn modelId="{78670B23-04BC-4AEB-90A0-5AF3BEB2E158}" srcId="{CA250597-950B-4420-BEC1-CC8FB8898989}" destId="{10EDD588-B4F9-433E-B8D6-2E518220B8DC}" srcOrd="2" destOrd="0" parTransId="{016FE195-1C57-470E-BDEC-9B3E190EE66B}" sibTransId="{8F367764-3311-49AD-99BF-86E6718B217B}"/>
    <dgm:cxn modelId="{3AE11F25-B5E4-4632-83E3-74A1CE36A6EE}" srcId="{10EDD588-B4F9-433E-B8D6-2E518220B8DC}" destId="{EB4BCB25-5C6C-4F6E-913C-FD3A82AF3B1A}" srcOrd="2" destOrd="0" parTransId="{C9D73220-347B-4391-9696-2B1E1A07749B}" sibTransId="{0761AC39-3FF3-4CDB-A52A-17D741313E86}"/>
    <dgm:cxn modelId="{A7A80A27-9469-413A-B744-EAD61C8EF8A3}" type="presOf" srcId="{B2BCF7D9-357B-4C4D-BDB8-346B9A705254}" destId="{1A187967-6C40-4A1A-B3FF-C50EFDB18F23}" srcOrd="0" destOrd="0" presId="urn:microsoft.com/office/officeart/2005/8/layout/hList1"/>
    <dgm:cxn modelId="{7DD71B28-83FB-43C8-86FA-57059758BC02}" srcId="{B2BCF7D9-357B-4C4D-BDB8-346B9A705254}" destId="{F8CD645A-A87A-4E2D-81AA-988847EE58BA}" srcOrd="1" destOrd="0" parTransId="{7D6B6A59-5A1E-4058-8DAA-A9FA4EDAA3B5}" sibTransId="{6344E7AC-7CDC-4594-A741-1108B4379F51}"/>
    <dgm:cxn modelId="{43BAB634-22C6-4104-8B66-2A57432B9C68}" srcId="{17C38971-EF6F-443C-B09A-7D8AE3E4B9EA}" destId="{FB45AF57-98D0-4023-8EDF-6995FF74F7DD}" srcOrd="0" destOrd="0" parTransId="{38212F2A-24C3-483F-9630-66FC6BC3C34E}" sibTransId="{697EAC0F-CAB8-43F5-BDBA-B872D27C5513}"/>
    <dgm:cxn modelId="{32DE8938-0790-456F-BB4A-20A5168DE97B}" type="presOf" srcId="{A48844A9-CB33-4B85-94D3-29874AB4B075}" destId="{AC587E90-1514-4031-AFBB-0C38EA69068D}" srcOrd="0" destOrd="1" presId="urn:microsoft.com/office/officeart/2005/8/layout/hList1"/>
    <dgm:cxn modelId="{3E627E39-E18A-43DF-A588-8DE152AC0051}" type="presOf" srcId="{AABBCC77-C389-4DAA-BBDB-AEF56CAE9B25}" destId="{0E8F9A3E-CA0C-495F-B394-9C284E9451DE}" srcOrd="0" destOrd="2" presId="urn:microsoft.com/office/officeart/2005/8/layout/hList1"/>
    <dgm:cxn modelId="{A4758A5C-D56E-4D75-81D7-B8C8327D24FE}" srcId="{EBE5AA27-D32D-404B-9B67-0421F9905ED3}" destId="{95827524-6374-4292-A8C1-15C49BA6B484}" srcOrd="1" destOrd="0" parTransId="{A5B6D17B-1CF4-4846-9052-D2AD804FA404}" sibTransId="{5FFBBAD7-ADB4-4E1F-9F4E-4103FE907FB5}"/>
    <dgm:cxn modelId="{C5BC4442-A44E-44F9-8450-B0F71309A7CE}" type="presOf" srcId="{CA250597-950B-4420-BEC1-CC8FB8898989}" destId="{ADD7BB83-1409-44E8-810A-86C84B36EE14}" srcOrd="0" destOrd="0" presId="urn:microsoft.com/office/officeart/2005/8/layout/hList1"/>
    <dgm:cxn modelId="{49F28E46-3223-44AC-80C0-F652E7D2728F}" type="presOf" srcId="{FB45AF57-98D0-4023-8EDF-6995FF74F7DD}" destId="{F5593874-3C54-4380-85E5-3A1CCB95964D}" srcOrd="0" destOrd="0" presId="urn:microsoft.com/office/officeart/2005/8/layout/hList1"/>
    <dgm:cxn modelId="{822E8C67-0858-4D98-9F08-EE68BD70C35C}" type="presOf" srcId="{EB4BCB25-5C6C-4F6E-913C-FD3A82AF3B1A}" destId="{1951C42D-467A-4D35-A8B3-41BEBED91ECD}" srcOrd="0" destOrd="2" presId="urn:microsoft.com/office/officeart/2005/8/layout/hList1"/>
    <dgm:cxn modelId="{C39F6D48-3F1C-4472-9A24-610C822EC395}" type="presOf" srcId="{EBE5AA27-D32D-404B-9B67-0421F9905ED3}" destId="{4A274FCF-6305-4C68-A8BA-53A524DB2EA5}" srcOrd="0" destOrd="0" presId="urn:microsoft.com/office/officeart/2005/8/layout/hList1"/>
    <dgm:cxn modelId="{2E9CB768-C245-4CA9-A9C5-77FC8B6FE4F0}" type="presOf" srcId="{A0456FE1-D3D4-4AF8-B9B3-E1EE726F6097}" destId="{C27E9F59-08B8-4F4D-9112-4415848848FA}" srcOrd="0" destOrd="0" presId="urn:microsoft.com/office/officeart/2005/8/layout/hList1"/>
    <dgm:cxn modelId="{3E8DE76C-D38F-4E3D-81F8-3F38BDBE40D9}" type="presOf" srcId="{EB4337D8-BD94-4AF1-B105-83F72BF98EC8}" destId="{1951C42D-467A-4D35-A8B3-41BEBED91ECD}" srcOrd="0" destOrd="1" presId="urn:microsoft.com/office/officeart/2005/8/layout/hList1"/>
    <dgm:cxn modelId="{C55A594E-F1F5-4012-A48D-A184ED410076}" type="presOf" srcId="{D7E2E32B-56B5-4EBB-B369-48A7F22163DF}" destId="{AC587E90-1514-4031-AFBB-0C38EA69068D}" srcOrd="0" destOrd="2" presId="urn:microsoft.com/office/officeart/2005/8/layout/hList1"/>
    <dgm:cxn modelId="{FCB15253-BDF5-4557-A8DB-D584B0BA494C}" type="presOf" srcId="{2614BBA8-15FB-4466-84EF-83DF3DF63A19}" destId="{4F0462F8-7855-49CD-A47D-4D20460FAF8D}" srcOrd="0" destOrd="2" presId="urn:microsoft.com/office/officeart/2005/8/layout/hList1"/>
    <dgm:cxn modelId="{A793557B-76D8-48EE-86DF-BA589252502A}" srcId="{10EDD588-B4F9-433E-B8D6-2E518220B8DC}" destId="{7F7A0CA2-06F0-4F39-B619-4C127E5E0C13}" srcOrd="0" destOrd="0" parTransId="{2B68039C-1178-49D3-A703-043656ADB7A6}" sibTransId="{C36145E2-66C9-43B0-8558-D93A532DA17C}"/>
    <dgm:cxn modelId="{D6F2797B-25B7-45B2-A726-1282BE210D6D}" srcId="{B2BCF7D9-357B-4C4D-BDB8-346B9A705254}" destId="{AA5DB638-89D2-477D-9B26-528756B98008}" srcOrd="0" destOrd="0" parTransId="{38A50C4F-98EA-4238-8F20-F03336C9D892}" sibTransId="{195F92E1-0B0A-4073-AE83-18CA4DB1D283}"/>
    <dgm:cxn modelId="{17731280-18C2-407C-98A3-D9B16A4092CC}" srcId="{CA250597-950B-4420-BEC1-CC8FB8898989}" destId="{B2BCF7D9-357B-4C4D-BDB8-346B9A705254}" srcOrd="3" destOrd="0" parTransId="{3B9DA377-03CB-46C7-93F4-08FDA0796E60}" sibTransId="{BB161094-4E01-40C8-87A7-DA693F0080C3}"/>
    <dgm:cxn modelId="{B4A34B81-6D98-4812-96AC-3C44464B27C5}" srcId="{EBE5AA27-D32D-404B-9B67-0421F9905ED3}" destId="{2614BBA8-15FB-4466-84EF-83DF3DF63A19}" srcOrd="2" destOrd="0" parTransId="{C96A5292-7B2F-4713-940F-7D3205F45BC6}" sibTransId="{2FAEA43C-074C-4151-9B28-1039617EC1F6}"/>
    <dgm:cxn modelId="{61839B8A-F01B-4F65-8E78-631D20D7C05C}" type="presOf" srcId="{B0BDDB3A-C397-4486-A4BF-A5E488F196A0}" destId="{F5593874-3C54-4380-85E5-3A1CCB95964D}" srcOrd="0" destOrd="2" presId="urn:microsoft.com/office/officeart/2005/8/layout/hList1"/>
    <dgm:cxn modelId="{EFD1888E-A225-4E14-9EA6-EC127F7B151B}" srcId="{EBE5AA27-D32D-404B-9B67-0421F9905ED3}" destId="{707D16EE-B776-4097-92A2-63250E01CB89}" srcOrd="0" destOrd="0" parTransId="{573C83CA-3F62-456B-BC07-D7DF099B67B2}" sibTransId="{758F66A4-A47F-430F-B1EC-D1D51042AFEE}"/>
    <dgm:cxn modelId="{0992DFAC-AC8D-4D11-BA5E-981233712F36}" type="presOf" srcId="{F8CD645A-A87A-4E2D-81AA-988847EE58BA}" destId="{0E8F9A3E-CA0C-495F-B394-9C284E9451DE}" srcOrd="0" destOrd="1" presId="urn:microsoft.com/office/officeart/2005/8/layout/hList1"/>
    <dgm:cxn modelId="{386E62AD-EAE6-402B-8B00-05799A0402F5}" type="presOf" srcId="{707D16EE-B776-4097-92A2-63250E01CB89}" destId="{4F0462F8-7855-49CD-A47D-4D20460FAF8D}" srcOrd="0" destOrd="0" presId="urn:microsoft.com/office/officeart/2005/8/layout/hList1"/>
    <dgm:cxn modelId="{44BAF3B2-E4A2-4905-90DB-F84AB2D8C8F0}" srcId="{B2BCF7D9-357B-4C4D-BDB8-346B9A705254}" destId="{AABBCC77-C389-4DAA-BBDB-AEF56CAE9B25}" srcOrd="2" destOrd="0" parTransId="{5425716B-77DA-4554-B66E-59A2F9AA3B6C}" sibTransId="{FC524B68-3E25-4D42-9467-6D3330AD44A3}"/>
    <dgm:cxn modelId="{3E2C58C2-3CF7-4D9D-8946-65F42281DCCA}" srcId="{10EDD588-B4F9-433E-B8D6-2E518220B8DC}" destId="{EB4337D8-BD94-4AF1-B105-83F72BF98EC8}" srcOrd="1" destOrd="0" parTransId="{00C94DA9-DAD7-4AB9-A081-54B1C19B903E}" sibTransId="{3E500711-DC58-46B1-B578-4CFC89A73909}"/>
    <dgm:cxn modelId="{66A28BDD-A686-48C6-8A5D-A0EA8113037B}" srcId="{A0456FE1-D3D4-4AF8-B9B3-E1EE726F6097}" destId="{420955D7-4DA5-43CE-B9BB-D34AE4DD34D7}" srcOrd="0" destOrd="0" parTransId="{53DCE3CE-ED22-41AA-A4ED-99DE9A6BE5FC}" sibTransId="{BB298B6C-4157-43CD-B0BD-6E2713518F88}"/>
    <dgm:cxn modelId="{C38BBFE1-43DF-467E-9D1B-7DFFB4CB7D75}" type="presOf" srcId="{17C38971-EF6F-443C-B09A-7D8AE3E4B9EA}" destId="{7E1546A6-1EB0-42B0-A304-4181810B726E}" srcOrd="0" destOrd="0" presId="urn:microsoft.com/office/officeart/2005/8/layout/hList1"/>
    <dgm:cxn modelId="{F64722E5-F010-46D4-8BAC-070F3461638C}" type="presOf" srcId="{95827524-6374-4292-A8C1-15C49BA6B484}" destId="{4F0462F8-7855-49CD-A47D-4D20460FAF8D}" srcOrd="0" destOrd="1" presId="urn:microsoft.com/office/officeart/2005/8/layout/hList1"/>
    <dgm:cxn modelId="{57E86AE5-327D-4900-B6B8-18CE4EA8BAFE}" type="presOf" srcId="{C5BC2122-A520-4548-8F17-8D5779B50B80}" destId="{F5593874-3C54-4380-85E5-3A1CCB95964D}" srcOrd="0" destOrd="1" presId="urn:microsoft.com/office/officeart/2005/8/layout/hList1"/>
    <dgm:cxn modelId="{E90975E7-03E2-4B95-BCC8-8BCF4D3544E9}" srcId="{CA250597-950B-4420-BEC1-CC8FB8898989}" destId="{A0456FE1-D3D4-4AF8-B9B3-E1EE726F6097}" srcOrd="4" destOrd="0" parTransId="{67E6EA6B-06AC-4D0A-A54E-D9DFDE4F0B1D}" sibTransId="{DA029E17-CB54-4733-8B05-22F5EF215B9B}"/>
    <dgm:cxn modelId="{08AEA5E7-6BB5-4CA9-9409-D56FAECA8B3E}" srcId="{17C38971-EF6F-443C-B09A-7D8AE3E4B9EA}" destId="{C5BC2122-A520-4548-8F17-8D5779B50B80}" srcOrd="1" destOrd="0" parTransId="{4B660E9F-B812-483D-9D25-B207A7D7D0D3}" sibTransId="{C666F77C-A127-487F-BBA3-CCA0D0A21AC7}"/>
    <dgm:cxn modelId="{177AD7EA-1091-45D5-A12A-1F0F82BDB5E2}" srcId="{CA250597-950B-4420-BEC1-CC8FB8898989}" destId="{EBE5AA27-D32D-404B-9B67-0421F9905ED3}" srcOrd="0" destOrd="0" parTransId="{5C107838-9B2E-4B84-A4D4-F59E94D64BF7}" sibTransId="{924D11A5-CF86-419E-9FDE-C864D2EF513B}"/>
    <dgm:cxn modelId="{61C5CCF4-19E8-4924-A847-559ACA3AC416}" srcId="{A0456FE1-D3D4-4AF8-B9B3-E1EE726F6097}" destId="{A48844A9-CB33-4B85-94D3-29874AB4B075}" srcOrd="1" destOrd="0" parTransId="{DC3BC4C2-BF43-4AE6-9002-3A392325792B}" sibTransId="{558569B7-6203-450E-9902-BED81D0B3758}"/>
    <dgm:cxn modelId="{A1BABFF6-1619-4A15-840E-EEA3DAE6CA37}" srcId="{A0456FE1-D3D4-4AF8-B9B3-E1EE726F6097}" destId="{D7E2E32B-56B5-4EBB-B369-48A7F22163DF}" srcOrd="2" destOrd="0" parTransId="{85EDBA76-E839-4B3D-992C-03779CF4FA8E}" sibTransId="{7CF97EEE-6A00-48DC-AD9A-536910837799}"/>
    <dgm:cxn modelId="{FD4B6EFD-CFE5-4082-8C42-6E862CD5A764}" type="presOf" srcId="{420955D7-4DA5-43CE-B9BB-D34AE4DD34D7}" destId="{AC587E90-1514-4031-AFBB-0C38EA69068D}" srcOrd="0" destOrd="0" presId="urn:microsoft.com/office/officeart/2005/8/layout/hList1"/>
    <dgm:cxn modelId="{8A59D8FD-F220-45C7-BA4A-5F75ADFA6D9A}" type="presOf" srcId="{10EDD588-B4F9-433E-B8D6-2E518220B8DC}" destId="{8DA981BB-3F70-4803-B164-A8F4A72E1CC5}" srcOrd="0" destOrd="0" presId="urn:microsoft.com/office/officeart/2005/8/layout/hList1"/>
    <dgm:cxn modelId="{A58FB33B-C0E6-4715-AAFE-DDBCF5E55980}" type="presParOf" srcId="{ADD7BB83-1409-44E8-810A-86C84B36EE14}" destId="{DF771648-EF9A-453A-8602-663FD2A8E757}" srcOrd="0" destOrd="0" presId="urn:microsoft.com/office/officeart/2005/8/layout/hList1"/>
    <dgm:cxn modelId="{2ED02017-92AF-4346-8084-4096924F929E}" type="presParOf" srcId="{DF771648-EF9A-453A-8602-663FD2A8E757}" destId="{4A274FCF-6305-4C68-A8BA-53A524DB2EA5}" srcOrd="0" destOrd="0" presId="urn:microsoft.com/office/officeart/2005/8/layout/hList1"/>
    <dgm:cxn modelId="{89A37CCD-516A-45BF-9D35-4C3E7B35713B}" type="presParOf" srcId="{DF771648-EF9A-453A-8602-663FD2A8E757}" destId="{4F0462F8-7855-49CD-A47D-4D20460FAF8D}" srcOrd="1" destOrd="0" presId="urn:microsoft.com/office/officeart/2005/8/layout/hList1"/>
    <dgm:cxn modelId="{7933B2F1-DC78-411D-BE81-8B74B3A24C28}" type="presParOf" srcId="{ADD7BB83-1409-44E8-810A-86C84B36EE14}" destId="{AD50C52D-ACC9-4740-B9C1-0719B3699BC3}" srcOrd="1" destOrd="0" presId="urn:microsoft.com/office/officeart/2005/8/layout/hList1"/>
    <dgm:cxn modelId="{0AADDA31-FA31-4E51-A84C-32408212B841}" type="presParOf" srcId="{ADD7BB83-1409-44E8-810A-86C84B36EE14}" destId="{C2B533A7-32BB-43D8-9413-4CD87020B835}" srcOrd="2" destOrd="0" presId="urn:microsoft.com/office/officeart/2005/8/layout/hList1"/>
    <dgm:cxn modelId="{AE9769CE-10CF-40BE-9E09-B866EA97458E}" type="presParOf" srcId="{C2B533A7-32BB-43D8-9413-4CD87020B835}" destId="{7E1546A6-1EB0-42B0-A304-4181810B726E}" srcOrd="0" destOrd="0" presId="urn:microsoft.com/office/officeart/2005/8/layout/hList1"/>
    <dgm:cxn modelId="{42BA82DB-40F2-4A02-B52D-3AFB39CC5736}" type="presParOf" srcId="{C2B533A7-32BB-43D8-9413-4CD87020B835}" destId="{F5593874-3C54-4380-85E5-3A1CCB95964D}" srcOrd="1" destOrd="0" presId="urn:microsoft.com/office/officeart/2005/8/layout/hList1"/>
    <dgm:cxn modelId="{9A30AF22-308A-4C0E-9BBD-ED7ADE8DB15F}" type="presParOf" srcId="{ADD7BB83-1409-44E8-810A-86C84B36EE14}" destId="{8988626F-96B5-457B-8F67-6FCE8E8E2767}" srcOrd="3" destOrd="0" presId="urn:microsoft.com/office/officeart/2005/8/layout/hList1"/>
    <dgm:cxn modelId="{4DB76100-2D55-4E13-B20F-44BA6DA9241B}" type="presParOf" srcId="{ADD7BB83-1409-44E8-810A-86C84B36EE14}" destId="{42DAD8B7-587B-45F0-B5E4-9D431A530CAB}" srcOrd="4" destOrd="0" presId="urn:microsoft.com/office/officeart/2005/8/layout/hList1"/>
    <dgm:cxn modelId="{D90EB885-FD14-416F-8C97-4EC6042ED712}" type="presParOf" srcId="{42DAD8B7-587B-45F0-B5E4-9D431A530CAB}" destId="{8DA981BB-3F70-4803-B164-A8F4A72E1CC5}" srcOrd="0" destOrd="0" presId="urn:microsoft.com/office/officeart/2005/8/layout/hList1"/>
    <dgm:cxn modelId="{D11C3295-F14E-416B-A5EC-7FF6643515EF}" type="presParOf" srcId="{42DAD8B7-587B-45F0-B5E4-9D431A530CAB}" destId="{1951C42D-467A-4D35-A8B3-41BEBED91ECD}" srcOrd="1" destOrd="0" presId="urn:microsoft.com/office/officeart/2005/8/layout/hList1"/>
    <dgm:cxn modelId="{0CDF5B0F-2F0A-46E5-8827-2E9BCDC640A2}" type="presParOf" srcId="{ADD7BB83-1409-44E8-810A-86C84B36EE14}" destId="{59B88EA4-FB33-411F-B56D-F9FA0E497B2D}" srcOrd="5" destOrd="0" presId="urn:microsoft.com/office/officeart/2005/8/layout/hList1"/>
    <dgm:cxn modelId="{1E3473D1-B536-4282-8D02-A2303DA71153}" type="presParOf" srcId="{ADD7BB83-1409-44E8-810A-86C84B36EE14}" destId="{3C401ED8-48DE-48E9-B0DE-E8319C7301D3}" srcOrd="6" destOrd="0" presId="urn:microsoft.com/office/officeart/2005/8/layout/hList1"/>
    <dgm:cxn modelId="{B5772E48-C108-4207-8264-A370504A254E}" type="presParOf" srcId="{3C401ED8-48DE-48E9-B0DE-E8319C7301D3}" destId="{1A187967-6C40-4A1A-B3FF-C50EFDB18F23}" srcOrd="0" destOrd="0" presId="urn:microsoft.com/office/officeart/2005/8/layout/hList1"/>
    <dgm:cxn modelId="{DBE14C90-742F-4249-9510-C386429789AA}" type="presParOf" srcId="{3C401ED8-48DE-48E9-B0DE-E8319C7301D3}" destId="{0E8F9A3E-CA0C-495F-B394-9C284E9451DE}" srcOrd="1" destOrd="0" presId="urn:microsoft.com/office/officeart/2005/8/layout/hList1"/>
    <dgm:cxn modelId="{4E845336-613E-48CA-BCE5-D760E60323A5}" type="presParOf" srcId="{ADD7BB83-1409-44E8-810A-86C84B36EE14}" destId="{B11A4F68-5B77-494F-B632-521010C26F32}" srcOrd="7" destOrd="0" presId="urn:microsoft.com/office/officeart/2005/8/layout/hList1"/>
    <dgm:cxn modelId="{FF9F87E8-6AA0-4A2C-A78D-D694D34B56E3}" type="presParOf" srcId="{ADD7BB83-1409-44E8-810A-86C84B36EE14}" destId="{C54B82AA-A5E3-41DD-A8C6-33F9A927F074}" srcOrd="8" destOrd="0" presId="urn:microsoft.com/office/officeart/2005/8/layout/hList1"/>
    <dgm:cxn modelId="{D722CA40-FC06-4C66-A610-DA6370CA1D40}" type="presParOf" srcId="{C54B82AA-A5E3-41DD-A8C6-33F9A927F074}" destId="{C27E9F59-08B8-4F4D-9112-4415848848FA}" srcOrd="0" destOrd="0" presId="urn:microsoft.com/office/officeart/2005/8/layout/hList1"/>
    <dgm:cxn modelId="{72889841-CC39-4FCC-A2F7-2C0DF9DE5955}" type="presParOf" srcId="{C54B82AA-A5E3-41DD-A8C6-33F9A927F074}" destId="{AC587E90-1514-4031-AFBB-0C38EA69068D}"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74FCF-6305-4C68-A8BA-53A524DB2EA5}">
      <dsp:nvSpPr>
        <dsp:cNvPr id="0" name=""/>
        <dsp:cNvSpPr/>
      </dsp:nvSpPr>
      <dsp:spPr>
        <a:xfrm>
          <a:off x="5200" y="16075"/>
          <a:ext cx="1993639" cy="748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Lattice-Based Cryptography</a:t>
          </a:r>
          <a:endParaRPr lang="en-IN" sz="2000" kern="1200" dirty="0"/>
        </a:p>
      </dsp:txBody>
      <dsp:txXfrm>
        <a:off x="5200" y="16075"/>
        <a:ext cx="1993639" cy="748800"/>
      </dsp:txXfrm>
    </dsp:sp>
    <dsp:sp modelId="{4F0462F8-7855-49CD-A47D-4D20460FAF8D}">
      <dsp:nvSpPr>
        <dsp:cNvPr id="0" name=""/>
        <dsp:cNvSpPr/>
      </dsp:nvSpPr>
      <dsp:spPr>
        <a:xfrm>
          <a:off x="5200" y="764876"/>
          <a:ext cx="1993639" cy="371124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It relies on hard mathematical problems. It has high computational efficiency &amp; strong security.</a:t>
          </a:r>
          <a:endParaRPr lang="en-IN" sz="2000" kern="1200" dirty="0"/>
        </a:p>
        <a:p>
          <a:pPr marL="228600" lvl="1" indent="-228600" algn="l" defTabSz="889000">
            <a:lnSpc>
              <a:spcPct val="90000"/>
            </a:lnSpc>
            <a:spcBef>
              <a:spcPct val="0"/>
            </a:spcBef>
            <a:spcAft>
              <a:spcPct val="15000"/>
            </a:spcAft>
            <a:buChar char="•"/>
          </a:pPr>
          <a:endParaRPr lang="en-IN" sz="2000" kern="1200" dirty="0"/>
        </a:p>
        <a:p>
          <a:pPr marL="228600" lvl="1" indent="-228600" algn="l" defTabSz="889000">
            <a:lnSpc>
              <a:spcPct val="90000"/>
            </a:lnSpc>
            <a:spcBef>
              <a:spcPct val="0"/>
            </a:spcBef>
            <a:spcAft>
              <a:spcPct val="15000"/>
            </a:spcAft>
            <a:buChar char="•"/>
          </a:pPr>
          <a:r>
            <a:rPr lang="en-US" sz="2000" b="1" kern="1200" dirty="0"/>
            <a:t>Ex : CRYSTALS-KYBER, SABER</a:t>
          </a:r>
          <a:endParaRPr lang="en-IN" sz="2000" b="1" kern="1200" dirty="0"/>
        </a:p>
      </dsp:txBody>
      <dsp:txXfrm>
        <a:off x="5200" y="764876"/>
        <a:ext cx="1993639" cy="3711240"/>
      </dsp:txXfrm>
    </dsp:sp>
    <dsp:sp modelId="{7E1546A6-1EB0-42B0-A304-4181810B726E}">
      <dsp:nvSpPr>
        <dsp:cNvPr id="0" name=""/>
        <dsp:cNvSpPr/>
      </dsp:nvSpPr>
      <dsp:spPr>
        <a:xfrm>
          <a:off x="2277949" y="16075"/>
          <a:ext cx="1993639" cy="748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Code-Based Cryptography</a:t>
          </a:r>
          <a:endParaRPr lang="en-IN" sz="2000" kern="1200" dirty="0"/>
        </a:p>
      </dsp:txBody>
      <dsp:txXfrm>
        <a:off x="2277949" y="16075"/>
        <a:ext cx="1993639" cy="748800"/>
      </dsp:txXfrm>
    </dsp:sp>
    <dsp:sp modelId="{F5593874-3C54-4380-85E5-3A1CCB95964D}">
      <dsp:nvSpPr>
        <dsp:cNvPr id="0" name=""/>
        <dsp:cNvSpPr/>
      </dsp:nvSpPr>
      <dsp:spPr>
        <a:xfrm>
          <a:off x="2277949" y="764876"/>
          <a:ext cx="1993639" cy="371124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It is based on error-correcting codes  offers excellent security but often suffers from large key sizes.</a:t>
          </a:r>
          <a:endParaRPr lang="en-IN" sz="2000" kern="1200" dirty="0"/>
        </a:p>
        <a:p>
          <a:pPr marL="228600" lvl="1" indent="-228600" algn="l" defTabSz="889000">
            <a:lnSpc>
              <a:spcPct val="90000"/>
            </a:lnSpc>
            <a:spcBef>
              <a:spcPct val="0"/>
            </a:spcBef>
            <a:spcAft>
              <a:spcPct val="15000"/>
            </a:spcAft>
            <a:buChar char="•"/>
          </a:pPr>
          <a:endParaRPr lang="en-IN" sz="2000" kern="1200" dirty="0"/>
        </a:p>
        <a:p>
          <a:pPr marL="228600" lvl="1" indent="-228600" algn="l" defTabSz="889000">
            <a:lnSpc>
              <a:spcPct val="90000"/>
            </a:lnSpc>
            <a:spcBef>
              <a:spcPct val="0"/>
            </a:spcBef>
            <a:spcAft>
              <a:spcPct val="15000"/>
            </a:spcAft>
            <a:buChar char="•"/>
          </a:pPr>
          <a:r>
            <a:rPr lang="en-US" sz="2000" b="1" kern="1200" dirty="0"/>
            <a:t>Ex : Classic </a:t>
          </a:r>
          <a:r>
            <a:rPr lang="en-US" sz="2000" b="1" kern="1200" dirty="0" err="1"/>
            <a:t>McEliece</a:t>
          </a:r>
          <a:endParaRPr lang="en-IN" sz="2000" b="1" kern="1200" dirty="0"/>
        </a:p>
      </dsp:txBody>
      <dsp:txXfrm>
        <a:off x="2277949" y="764876"/>
        <a:ext cx="1993639" cy="3711240"/>
      </dsp:txXfrm>
    </dsp:sp>
    <dsp:sp modelId="{8DA981BB-3F70-4803-B164-A8F4A72E1CC5}">
      <dsp:nvSpPr>
        <dsp:cNvPr id="0" name=""/>
        <dsp:cNvSpPr/>
      </dsp:nvSpPr>
      <dsp:spPr>
        <a:xfrm>
          <a:off x="4550699" y="16075"/>
          <a:ext cx="1993639" cy="748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Hash-Based Cryptography</a:t>
          </a:r>
          <a:endParaRPr lang="en-IN" sz="2000" kern="1200" dirty="0"/>
        </a:p>
      </dsp:txBody>
      <dsp:txXfrm>
        <a:off x="4550699" y="16075"/>
        <a:ext cx="1993639" cy="748800"/>
      </dsp:txXfrm>
    </dsp:sp>
    <dsp:sp modelId="{1951C42D-467A-4D35-A8B3-41BEBED91ECD}">
      <dsp:nvSpPr>
        <dsp:cNvPr id="0" name=""/>
        <dsp:cNvSpPr/>
      </dsp:nvSpPr>
      <dsp:spPr>
        <a:xfrm>
          <a:off x="4550699" y="764876"/>
          <a:ext cx="1993639" cy="371124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It is built entirely on hash function, providing strong security but it has larger signature sizes.</a:t>
          </a:r>
          <a:endParaRPr lang="en-IN" sz="2000" kern="1200" dirty="0"/>
        </a:p>
        <a:p>
          <a:pPr marL="228600" lvl="1" indent="-228600" algn="l" defTabSz="889000">
            <a:lnSpc>
              <a:spcPct val="90000"/>
            </a:lnSpc>
            <a:spcBef>
              <a:spcPct val="0"/>
            </a:spcBef>
            <a:spcAft>
              <a:spcPct val="15000"/>
            </a:spcAft>
            <a:buChar char="•"/>
          </a:pPr>
          <a:endParaRPr lang="en-IN" sz="2000" kern="1200" dirty="0"/>
        </a:p>
        <a:p>
          <a:pPr marL="228600" lvl="1" indent="-228600" algn="l" defTabSz="889000">
            <a:lnSpc>
              <a:spcPct val="90000"/>
            </a:lnSpc>
            <a:spcBef>
              <a:spcPct val="0"/>
            </a:spcBef>
            <a:spcAft>
              <a:spcPct val="15000"/>
            </a:spcAft>
            <a:buChar char="•"/>
          </a:pPr>
          <a:r>
            <a:rPr lang="en-US" sz="2000" b="1" kern="1200" dirty="0"/>
            <a:t>Ex : SPHINCS+</a:t>
          </a:r>
          <a:endParaRPr lang="en-IN" sz="2000" b="1" kern="1200" dirty="0"/>
        </a:p>
      </dsp:txBody>
      <dsp:txXfrm>
        <a:off x="4550699" y="764876"/>
        <a:ext cx="1993639" cy="3711240"/>
      </dsp:txXfrm>
    </dsp:sp>
    <dsp:sp modelId="{1A187967-6C40-4A1A-B3FF-C50EFDB18F23}">
      <dsp:nvSpPr>
        <dsp:cNvPr id="0" name=""/>
        <dsp:cNvSpPr/>
      </dsp:nvSpPr>
      <dsp:spPr>
        <a:xfrm>
          <a:off x="6823448" y="16075"/>
          <a:ext cx="1993639" cy="748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Multivariate Cryptography</a:t>
          </a:r>
          <a:endParaRPr lang="en-IN" sz="2000" kern="1200" dirty="0"/>
        </a:p>
      </dsp:txBody>
      <dsp:txXfrm>
        <a:off x="6823448" y="16075"/>
        <a:ext cx="1993639" cy="748800"/>
      </dsp:txXfrm>
    </dsp:sp>
    <dsp:sp modelId="{0E8F9A3E-CA0C-495F-B394-9C284E9451DE}">
      <dsp:nvSpPr>
        <dsp:cNvPr id="0" name=""/>
        <dsp:cNvSpPr/>
      </dsp:nvSpPr>
      <dsp:spPr>
        <a:xfrm>
          <a:off x="6823448" y="764876"/>
          <a:ext cx="1993639" cy="371124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It utilizes the difficulty of solving multivariate polynomial equations over finite fields.</a:t>
          </a:r>
          <a:endParaRPr lang="en-IN" sz="2000" kern="1200" dirty="0"/>
        </a:p>
        <a:p>
          <a:pPr marL="228600" lvl="1" indent="-228600" algn="l" defTabSz="889000">
            <a:lnSpc>
              <a:spcPct val="90000"/>
            </a:lnSpc>
            <a:spcBef>
              <a:spcPct val="0"/>
            </a:spcBef>
            <a:spcAft>
              <a:spcPct val="15000"/>
            </a:spcAft>
            <a:buChar char="•"/>
          </a:pPr>
          <a:endParaRPr lang="en-IN" sz="2000" kern="1200" dirty="0"/>
        </a:p>
        <a:p>
          <a:pPr marL="228600" lvl="1" indent="-228600" algn="l" defTabSz="889000">
            <a:lnSpc>
              <a:spcPct val="90000"/>
            </a:lnSpc>
            <a:spcBef>
              <a:spcPct val="0"/>
            </a:spcBef>
            <a:spcAft>
              <a:spcPct val="15000"/>
            </a:spcAft>
            <a:buChar char="•"/>
          </a:pPr>
          <a:r>
            <a:rPr lang="en-US" sz="2000" b="1" kern="1200" dirty="0"/>
            <a:t>Ex : Rainbow</a:t>
          </a:r>
          <a:endParaRPr lang="en-IN" sz="2000" b="1" kern="1200" dirty="0"/>
        </a:p>
      </dsp:txBody>
      <dsp:txXfrm>
        <a:off x="6823448" y="764876"/>
        <a:ext cx="1993639" cy="3711240"/>
      </dsp:txXfrm>
    </dsp:sp>
    <dsp:sp modelId="{C27E9F59-08B8-4F4D-9112-4415848848FA}">
      <dsp:nvSpPr>
        <dsp:cNvPr id="0" name=""/>
        <dsp:cNvSpPr/>
      </dsp:nvSpPr>
      <dsp:spPr>
        <a:xfrm>
          <a:off x="9096197" y="16075"/>
          <a:ext cx="1993639" cy="7488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Isogeny-Based Cryptography</a:t>
          </a:r>
          <a:endParaRPr lang="en-IN" sz="2000" kern="1200" dirty="0"/>
        </a:p>
      </dsp:txBody>
      <dsp:txXfrm>
        <a:off x="9096197" y="16075"/>
        <a:ext cx="1993639" cy="748800"/>
      </dsp:txXfrm>
    </dsp:sp>
    <dsp:sp modelId="{AC587E90-1514-4031-AFBB-0C38EA69068D}">
      <dsp:nvSpPr>
        <dsp:cNvPr id="0" name=""/>
        <dsp:cNvSpPr/>
      </dsp:nvSpPr>
      <dsp:spPr>
        <a:xfrm>
          <a:off x="9096197" y="764876"/>
          <a:ext cx="1993639" cy="371124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It leverages the hardness of finding isogenies between elliptic curves.</a:t>
          </a:r>
          <a:endParaRPr lang="en-IN" sz="2000" kern="1200" dirty="0"/>
        </a:p>
        <a:p>
          <a:pPr marL="228600" lvl="1" indent="-228600" algn="l" defTabSz="889000">
            <a:lnSpc>
              <a:spcPct val="90000"/>
            </a:lnSpc>
            <a:spcBef>
              <a:spcPct val="0"/>
            </a:spcBef>
            <a:spcAft>
              <a:spcPct val="15000"/>
            </a:spcAft>
            <a:buChar char="•"/>
          </a:pPr>
          <a:endParaRPr lang="en-IN" sz="2000" kern="1200" dirty="0"/>
        </a:p>
        <a:p>
          <a:pPr marL="228600" lvl="1" indent="-228600" algn="l" defTabSz="889000">
            <a:lnSpc>
              <a:spcPct val="90000"/>
            </a:lnSpc>
            <a:spcBef>
              <a:spcPct val="0"/>
            </a:spcBef>
            <a:spcAft>
              <a:spcPct val="15000"/>
            </a:spcAft>
            <a:buChar char="•"/>
          </a:pPr>
          <a:r>
            <a:rPr lang="en-US" sz="2000" b="1" kern="1200" dirty="0"/>
            <a:t>Ex : SIKE</a:t>
          </a:r>
          <a:endParaRPr lang="en-IN" sz="2000" b="1" kern="1200" dirty="0"/>
        </a:p>
      </dsp:txBody>
      <dsp:txXfrm>
        <a:off x="9096197" y="764876"/>
        <a:ext cx="1993639" cy="37112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34A9C1-5C30-414F-A262-38BAC33663CC}" type="datetimeFigureOut">
              <a:rPr lang="en-IN" smtClean="0"/>
              <a:t>28-07-2025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639B0-B7E4-4643-991C-CA37558E98FD}" type="slidenum">
              <a:rPr lang="en-IN" smtClean="0"/>
              <a:t>‹#›</a:t>
            </a:fld>
            <a:endParaRPr lang="en-IN"/>
          </a:p>
        </p:txBody>
      </p:sp>
    </p:spTree>
    <p:extLst>
      <p:ext uri="{BB962C8B-B14F-4D97-AF65-F5344CB8AC3E}">
        <p14:creationId xmlns:p14="http://schemas.microsoft.com/office/powerpoint/2010/main" val="882563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Quantum computers, once fully developed, will be able to break many current security methods, such as those used in Lightweight Authentication and Key Agreement Protocols (LAKPs) like EN-LAKP. This is a serious problem for devices like IoT gadgets and sensors that rely on these protocols to keep data safe. EN-LAKP is designed to work efficiently on small devices with limited power and processing capacity, but it is not strong enough to handle attacks from quantum computers.</a:t>
            </a:r>
          </a:p>
          <a:p>
            <a:endParaRPr lang="en-IN" dirty="0"/>
          </a:p>
        </p:txBody>
      </p:sp>
      <p:sp>
        <p:nvSpPr>
          <p:cNvPr id="4" name="Slide Number Placeholder 3"/>
          <p:cNvSpPr>
            <a:spLocks noGrp="1"/>
          </p:cNvSpPr>
          <p:nvPr>
            <p:ph type="sldNum" sz="quarter" idx="5"/>
          </p:nvPr>
        </p:nvSpPr>
        <p:spPr/>
        <p:txBody>
          <a:bodyPr/>
          <a:lstStyle/>
          <a:p>
            <a:fld id="{AD9639B0-B7E4-4643-991C-CA37558E98FD}" type="slidenum">
              <a:rPr lang="en-IN" smtClean="0"/>
              <a:t>3</a:t>
            </a:fld>
            <a:endParaRPr lang="en-IN"/>
          </a:p>
        </p:txBody>
      </p:sp>
    </p:spTree>
    <p:extLst>
      <p:ext uri="{BB962C8B-B14F-4D97-AF65-F5344CB8AC3E}">
        <p14:creationId xmlns:p14="http://schemas.microsoft.com/office/powerpoint/2010/main" val="1261194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Identify vulnerabilities in EN-LAKP to quantum attacks.</a:t>
            </a:r>
          </a:p>
          <a:p>
            <a:r>
              <a:rPr lang="en-IN" dirty="0"/>
              <a:t>Integrate quantum-resistant cryptographic techniques while maintaining lightweight efficiency.</a:t>
            </a:r>
          </a:p>
          <a:p>
            <a:r>
              <a:rPr lang="en-IN" dirty="0"/>
              <a:t>Ensure protocol compatibility with resource-constrained environments like SDN-enabled WSNs.</a:t>
            </a:r>
          </a:p>
          <a:p>
            <a:r>
              <a:rPr lang="en-IN" dirty="0"/>
              <a:t>Validate security and performance using tools like </a:t>
            </a:r>
            <a:r>
              <a:rPr lang="en-IN" dirty="0" err="1"/>
              <a:t>Scyther</a:t>
            </a:r>
            <a:r>
              <a:rPr lang="en-IN" dirty="0"/>
              <a:t> and Wireshark.</a:t>
            </a:r>
          </a:p>
        </p:txBody>
      </p:sp>
      <p:sp>
        <p:nvSpPr>
          <p:cNvPr id="4" name="Slide Number Placeholder 3"/>
          <p:cNvSpPr>
            <a:spLocks noGrp="1"/>
          </p:cNvSpPr>
          <p:nvPr>
            <p:ph type="sldNum" sz="quarter" idx="5"/>
          </p:nvPr>
        </p:nvSpPr>
        <p:spPr/>
        <p:txBody>
          <a:bodyPr/>
          <a:lstStyle/>
          <a:p>
            <a:fld id="{AD9639B0-B7E4-4643-991C-CA37558E98FD}" type="slidenum">
              <a:rPr lang="en-IN" smtClean="0"/>
              <a:t>4</a:t>
            </a:fld>
            <a:endParaRPr lang="en-IN"/>
          </a:p>
        </p:txBody>
      </p:sp>
    </p:spTree>
    <p:extLst>
      <p:ext uri="{BB962C8B-B14F-4D97-AF65-F5344CB8AC3E}">
        <p14:creationId xmlns:p14="http://schemas.microsoft.com/office/powerpoint/2010/main" val="1058348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Quantum computing threats refer to the ability of quantum computers to break traditional cryptographic systems. Unlike classical computers, quantum computers use principles of quantum mechanics, such as superposition and entanglement, to solve complex problems exponentially faster. This poses a significant challenge to widely used cryptographic algorithms that secure digital communications today.</a:t>
            </a:r>
          </a:p>
          <a:p>
            <a:endParaRPr lang="en-IN" dirty="0"/>
          </a:p>
        </p:txBody>
      </p:sp>
      <p:sp>
        <p:nvSpPr>
          <p:cNvPr id="4" name="Slide Number Placeholder 3"/>
          <p:cNvSpPr>
            <a:spLocks noGrp="1"/>
          </p:cNvSpPr>
          <p:nvPr>
            <p:ph type="sldNum" sz="quarter" idx="5"/>
          </p:nvPr>
        </p:nvSpPr>
        <p:spPr/>
        <p:txBody>
          <a:bodyPr/>
          <a:lstStyle/>
          <a:p>
            <a:fld id="{AD9639B0-B7E4-4643-991C-CA37558E98FD}" type="slidenum">
              <a:rPr lang="en-IN" smtClean="0"/>
              <a:t>7</a:t>
            </a:fld>
            <a:endParaRPr lang="en-IN"/>
          </a:p>
        </p:txBody>
      </p:sp>
    </p:spTree>
    <p:extLst>
      <p:ext uri="{BB962C8B-B14F-4D97-AF65-F5344CB8AC3E}">
        <p14:creationId xmlns:p14="http://schemas.microsoft.com/office/powerpoint/2010/main" val="390187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Shor’s Algorithm</a:t>
            </a:r>
          </a:p>
          <a:p>
            <a:pPr>
              <a:buFont typeface="Arial" panose="020B0604020202020204" pitchFamily="34" charset="0"/>
              <a:buChar char="•"/>
            </a:pPr>
            <a:r>
              <a:rPr lang="en-US" b="1" dirty="0"/>
              <a:t>Impact</a:t>
            </a:r>
            <a:r>
              <a:rPr lang="en-US" dirty="0"/>
              <a:t>: Shor’s algorithm can efficiently solve the integer factorization and discrete logarithm problems, which are the foundation of many public-key cryptographic systems (e.g., RSA, ECC).</a:t>
            </a:r>
          </a:p>
          <a:p>
            <a:r>
              <a:rPr lang="en-IN" b="1" dirty="0"/>
              <a:t>Grover’s Algorithm</a:t>
            </a:r>
          </a:p>
          <a:p>
            <a:pPr>
              <a:buFont typeface="Arial" panose="020B0604020202020204" pitchFamily="34" charset="0"/>
              <a:buChar char="•"/>
            </a:pPr>
            <a:r>
              <a:rPr lang="en-IN" b="1" dirty="0"/>
              <a:t>Impact</a:t>
            </a:r>
            <a:r>
              <a:rPr lang="en-IN" dirty="0"/>
              <a:t>: Grover’s algorithm provides a quadratic speedup for searching unsorted databases, which can be applied to brute-forcing symmetric keys.</a:t>
            </a:r>
          </a:p>
          <a:p>
            <a:endParaRPr lang="en-IN" dirty="0"/>
          </a:p>
        </p:txBody>
      </p:sp>
      <p:sp>
        <p:nvSpPr>
          <p:cNvPr id="4" name="Slide Number Placeholder 3"/>
          <p:cNvSpPr>
            <a:spLocks noGrp="1"/>
          </p:cNvSpPr>
          <p:nvPr>
            <p:ph type="sldNum" sz="quarter" idx="5"/>
          </p:nvPr>
        </p:nvSpPr>
        <p:spPr/>
        <p:txBody>
          <a:bodyPr/>
          <a:lstStyle/>
          <a:p>
            <a:fld id="{AD9639B0-B7E4-4643-991C-CA37558E98FD}" type="slidenum">
              <a:rPr lang="en-IN" smtClean="0"/>
              <a:t>8</a:t>
            </a:fld>
            <a:endParaRPr lang="en-IN"/>
          </a:p>
        </p:txBody>
      </p:sp>
    </p:spTree>
    <p:extLst>
      <p:ext uri="{BB962C8B-B14F-4D97-AF65-F5344CB8AC3E}">
        <p14:creationId xmlns:p14="http://schemas.microsoft.com/office/powerpoint/2010/main" val="3681430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Session keys generated using classical methods could be intercepted and computed by a quantum adversary.</a:t>
            </a:r>
          </a:p>
          <a:p>
            <a:pPr marL="228600" indent="-228600">
              <a:buAutoNum type="arabicPeriod"/>
            </a:pPr>
            <a:r>
              <a:rPr lang="en-US" dirty="0"/>
              <a:t>The use of non-quantum-resistant random number generation and hash functions may fail to ensure mutual authentication in the presence of quantum computing power.</a:t>
            </a:r>
          </a:p>
          <a:p>
            <a:pPr marL="228600" indent="-228600">
              <a:buAutoNum type="arabicPeriod"/>
            </a:pPr>
            <a:r>
              <a:rPr lang="en-US" dirty="0"/>
              <a:t>EN-LAKP is designed for environments like SDN-enabled WSNs, where devices have limited computational resources. Adapting to quantum threats without careful redesign could render the protocol inefficient or unusable in such environments.</a:t>
            </a:r>
          </a:p>
          <a:p>
            <a:pPr marL="228600" indent="-228600">
              <a:buAutoNum type="arabicPeriod"/>
            </a:pPr>
            <a:endParaRPr lang="en-US" dirty="0"/>
          </a:p>
          <a:p>
            <a:pPr marL="0" indent="0">
              <a:buNone/>
            </a:pPr>
            <a:r>
              <a:rPr lang="en-US" dirty="0"/>
              <a:t>o counteract these threats, EN-LAKP must incorporate quantum-resistant techniques such as lattice-based cryptography or hash-based digital signatures. These methods are resistant to both Shor's and Grover's algorithms and can be optimized for lightweight operation to maintain the protocol’s suitability for resource-constrained networks.</a:t>
            </a:r>
            <a:endParaRPr lang="en-IN" dirty="0"/>
          </a:p>
        </p:txBody>
      </p:sp>
      <p:sp>
        <p:nvSpPr>
          <p:cNvPr id="4" name="Slide Number Placeholder 3"/>
          <p:cNvSpPr>
            <a:spLocks noGrp="1"/>
          </p:cNvSpPr>
          <p:nvPr>
            <p:ph type="sldNum" sz="quarter" idx="5"/>
          </p:nvPr>
        </p:nvSpPr>
        <p:spPr/>
        <p:txBody>
          <a:bodyPr/>
          <a:lstStyle/>
          <a:p>
            <a:fld id="{AD9639B0-B7E4-4643-991C-CA37558E98FD}" type="slidenum">
              <a:rPr lang="en-IN" smtClean="0"/>
              <a:t>9</a:t>
            </a:fld>
            <a:endParaRPr lang="en-IN"/>
          </a:p>
        </p:txBody>
      </p:sp>
    </p:spTree>
    <p:extLst>
      <p:ext uri="{BB962C8B-B14F-4D97-AF65-F5344CB8AC3E}">
        <p14:creationId xmlns:p14="http://schemas.microsoft.com/office/powerpoint/2010/main" val="977348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Post-Quantum Cryptography develops cryptographic algorithms resistant to attacks from both classical and quantum computers.</a:t>
            </a:r>
          </a:p>
          <a:p>
            <a:r>
              <a:rPr lang="en-IN" b="1" dirty="0"/>
              <a:t>Key Features</a:t>
            </a:r>
            <a:r>
              <a:rPr lang="en-IN" dirty="0"/>
              <a:t>:</a:t>
            </a:r>
          </a:p>
          <a:p>
            <a:pPr>
              <a:buFont typeface="Arial" panose="020B0604020202020204" pitchFamily="34" charset="0"/>
              <a:buChar char="•"/>
            </a:pPr>
            <a:r>
              <a:rPr lang="en-IN" dirty="0"/>
              <a:t>Security based on hard mathematical problems, e.g., lattices, codes, or multivariate equations, believed to resist quantum attacks.</a:t>
            </a:r>
          </a:p>
          <a:p>
            <a:pPr>
              <a:buFont typeface="Arial" panose="020B0604020202020204" pitchFamily="34" charset="0"/>
              <a:buChar char="•"/>
            </a:pPr>
            <a:r>
              <a:rPr lang="en-IN" dirty="0"/>
              <a:t>Compatibility with existing network infrastructures for a smoother transition to quantum resilience.</a:t>
            </a:r>
          </a:p>
          <a:p>
            <a:endParaRPr lang="en-IN" dirty="0"/>
          </a:p>
        </p:txBody>
      </p:sp>
      <p:sp>
        <p:nvSpPr>
          <p:cNvPr id="4" name="Slide Number Placeholder 3"/>
          <p:cNvSpPr>
            <a:spLocks noGrp="1"/>
          </p:cNvSpPr>
          <p:nvPr>
            <p:ph type="sldNum" sz="quarter" idx="5"/>
          </p:nvPr>
        </p:nvSpPr>
        <p:spPr/>
        <p:txBody>
          <a:bodyPr/>
          <a:lstStyle/>
          <a:p>
            <a:fld id="{AD9639B0-B7E4-4643-991C-CA37558E98FD}" type="slidenum">
              <a:rPr lang="en-IN" smtClean="0"/>
              <a:t>10</a:t>
            </a:fld>
            <a:endParaRPr lang="en-IN"/>
          </a:p>
        </p:txBody>
      </p:sp>
    </p:spTree>
    <p:extLst>
      <p:ext uri="{BB962C8B-B14F-4D97-AF65-F5344CB8AC3E}">
        <p14:creationId xmlns:p14="http://schemas.microsoft.com/office/powerpoint/2010/main" val="1359260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algorithms meet the need for lightweight, quantum-resistant cryptography.</a:t>
            </a:r>
          </a:p>
          <a:p>
            <a:r>
              <a:rPr lang="en-US" dirty="0"/>
              <a:t>Their performance and security have been validated by NIST PQC standardization efforts.</a:t>
            </a:r>
            <a:endParaRPr lang="en-IN" dirty="0"/>
          </a:p>
        </p:txBody>
      </p:sp>
      <p:sp>
        <p:nvSpPr>
          <p:cNvPr id="4" name="Slide Number Placeholder 3"/>
          <p:cNvSpPr>
            <a:spLocks noGrp="1"/>
          </p:cNvSpPr>
          <p:nvPr>
            <p:ph type="sldNum" sz="quarter" idx="5"/>
          </p:nvPr>
        </p:nvSpPr>
        <p:spPr/>
        <p:txBody>
          <a:bodyPr/>
          <a:lstStyle/>
          <a:p>
            <a:fld id="{AD9639B0-B7E4-4643-991C-CA37558E98FD}" type="slidenum">
              <a:rPr lang="en-IN" smtClean="0"/>
              <a:t>14</a:t>
            </a:fld>
            <a:endParaRPr lang="en-IN"/>
          </a:p>
        </p:txBody>
      </p:sp>
    </p:spTree>
    <p:extLst>
      <p:ext uri="{BB962C8B-B14F-4D97-AF65-F5344CB8AC3E}">
        <p14:creationId xmlns:p14="http://schemas.microsoft.com/office/powerpoint/2010/main" val="3481676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8807-0568-872C-917D-2DAA6DD6F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6A5F7-449C-67BA-AFB8-A04BFDE09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993F8-7954-03A1-237F-02E363B09C36}"/>
              </a:ext>
            </a:extLst>
          </p:cNvPr>
          <p:cNvSpPr>
            <a:spLocks noGrp="1"/>
          </p:cNvSpPr>
          <p:nvPr>
            <p:ph type="body" idx="1"/>
          </p:nvPr>
        </p:nvSpPr>
        <p:spPr/>
        <p:txBody>
          <a:bodyPr/>
          <a:lstStyle/>
          <a:p>
            <a:r>
              <a:rPr lang="en-IN" b="1" dirty="0"/>
              <a:t>Criteria for Selection</a:t>
            </a:r>
          </a:p>
          <a:p>
            <a:pPr>
              <a:buFont typeface="Arial" panose="020B0604020202020204" pitchFamily="34" charset="0"/>
              <a:buChar char="•"/>
            </a:pPr>
            <a:r>
              <a:rPr lang="en-IN" b="1" dirty="0"/>
              <a:t>Lightweight Nature</a:t>
            </a:r>
            <a:r>
              <a:rPr lang="en-IN" dirty="0"/>
              <a:t>: Ensures low computational and communication overhead to suit resource-constrained environments like SDN-enabled WSNs.</a:t>
            </a:r>
          </a:p>
          <a:p>
            <a:pPr>
              <a:buFont typeface="Arial" panose="020B0604020202020204" pitchFamily="34" charset="0"/>
              <a:buChar char="•"/>
            </a:pPr>
            <a:r>
              <a:rPr lang="en-IN" b="1" dirty="0"/>
              <a:t>Quantum Resistance</a:t>
            </a:r>
            <a:r>
              <a:rPr lang="en-IN" dirty="0"/>
              <a:t>: Must withstand attacks from quantum algorithms like Shor's and Grover's.</a:t>
            </a:r>
          </a:p>
          <a:p>
            <a:pPr>
              <a:buFont typeface="Arial" panose="020B0604020202020204" pitchFamily="34" charset="0"/>
              <a:buChar char="•"/>
            </a:pPr>
            <a:r>
              <a:rPr lang="en-IN" b="1" dirty="0"/>
              <a:t>Efficiency</a:t>
            </a:r>
            <a:r>
              <a:rPr lang="en-IN" dirty="0"/>
              <a:t>: Balances security with performance to maintain EN-LAKP’s usability.</a:t>
            </a:r>
          </a:p>
        </p:txBody>
      </p:sp>
      <p:sp>
        <p:nvSpPr>
          <p:cNvPr id="4" name="Slide Number Placeholder 3">
            <a:extLst>
              <a:ext uri="{FF2B5EF4-FFF2-40B4-BE49-F238E27FC236}">
                <a16:creationId xmlns:a16="http://schemas.microsoft.com/office/drawing/2014/main" id="{692171C5-AC56-5D1C-7B24-CE88BE5094FE}"/>
              </a:ext>
            </a:extLst>
          </p:cNvPr>
          <p:cNvSpPr>
            <a:spLocks noGrp="1"/>
          </p:cNvSpPr>
          <p:nvPr>
            <p:ph type="sldNum" sz="quarter" idx="5"/>
          </p:nvPr>
        </p:nvSpPr>
        <p:spPr/>
        <p:txBody>
          <a:bodyPr/>
          <a:lstStyle/>
          <a:p>
            <a:fld id="{AD9639B0-B7E4-4643-991C-CA37558E98FD}" type="slidenum">
              <a:rPr lang="en-IN" smtClean="0"/>
              <a:t>17</a:t>
            </a:fld>
            <a:endParaRPr lang="en-IN"/>
          </a:p>
        </p:txBody>
      </p:sp>
    </p:spTree>
    <p:extLst>
      <p:ext uri="{BB962C8B-B14F-4D97-AF65-F5344CB8AC3E}">
        <p14:creationId xmlns:p14="http://schemas.microsoft.com/office/powerpoint/2010/main" val="1725027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B296A-6DF4-4A83-0BC3-A69210BF9D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DC58AD-F325-AC10-FEB0-D02CE864B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49987-A653-3F47-677C-7BDBD230BC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B2027A-6AA4-D73F-9955-033BD18CB092}"/>
              </a:ext>
            </a:extLst>
          </p:cNvPr>
          <p:cNvSpPr>
            <a:spLocks noGrp="1"/>
          </p:cNvSpPr>
          <p:nvPr>
            <p:ph type="sldNum" sz="quarter" idx="5"/>
          </p:nvPr>
        </p:nvSpPr>
        <p:spPr/>
        <p:txBody>
          <a:bodyPr/>
          <a:lstStyle/>
          <a:p>
            <a:fld id="{AD9639B0-B7E4-4643-991C-CA37558E98FD}" type="slidenum">
              <a:rPr lang="en-IN" smtClean="0"/>
              <a:t>24</a:t>
            </a:fld>
            <a:endParaRPr lang="en-IN"/>
          </a:p>
        </p:txBody>
      </p:sp>
    </p:spTree>
    <p:extLst>
      <p:ext uri="{BB962C8B-B14F-4D97-AF65-F5344CB8AC3E}">
        <p14:creationId xmlns:p14="http://schemas.microsoft.com/office/powerpoint/2010/main" val="3256972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81B42-D71E-99E0-1470-34600A025F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A921C-6C1E-549E-0616-09C73CC5E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B2E3B-B06E-735B-8CC8-C6C6675610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B4A972-6123-EADE-DBFE-10040580B8F7}"/>
              </a:ext>
            </a:extLst>
          </p:cNvPr>
          <p:cNvSpPr>
            <a:spLocks noGrp="1"/>
          </p:cNvSpPr>
          <p:nvPr>
            <p:ph type="sldNum" sz="quarter" idx="5"/>
          </p:nvPr>
        </p:nvSpPr>
        <p:spPr/>
        <p:txBody>
          <a:bodyPr/>
          <a:lstStyle/>
          <a:p>
            <a:fld id="{AD9639B0-B7E4-4643-991C-CA37558E98FD}" type="slidenum">
              <a:rPr lang="en-IN" smtClean="0"/>
              <a:t>30</a:t>
            </a:fld>
            <a:endParaRPr lang="en-IN"/>
          </a:p>
        </p:txBody>
      </p:sp>
    </p:spTree>
    <p:extLst>
      <p:ext uri="{BB962C8B-B14F-4D97-AF65-F5344CB8AC3E}">
        <p14:creationId xmlns:p14="http://schemas.microsoft.com/office/powerpoint/2010/main" val="1737833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2ACA62-35DF-4719-8C45-C49A9672AEDB}" type="datetimeFigureOut">
              <a:rPr lang="en-IN" smtClean="0"/>
              <a:t>28-07-2025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A0DF39-ED85-4474-8E39-6C0E7DD4FA1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042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ACA62-35DF-4719-8C45-C49A9672AEDB}" type="datetimeFigureOut">
              <a:rPr lang="en-IN" smtClean="0"/>
              <a:t>28-07-2025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3509503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2ACA62-35DF-4719-8C45-C49A9672AEDB}" type="datetimeFigureOut">
              <a:rPr lang="en-IN" smtClean="0"/>
              <a:t>28-07-2025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A0DF39-ED85-4474-8E39-6C0E7DD4FA1C}"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015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2ACA62-35DF-4719-8C45-C49A9672AEDB}" type="datetimeFigureOut">
              <a:rPr lang="en-IN" smtClean="0"/>
              <a:t>28-07-2025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2909072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2ACA62-35DF-4719-8C45-C49A9672AEDB}" type="datetimeFigureOut">
              <a:rPr lang="en-IN" smtClean="0"/>
              <a:t>28-07-2025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4048673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2ACA62-35DF-4719-8C45-C49A9672AEDB}" type="datetimeFigureOut">
              <a:rPr lang="en-IN" smtClean="0"/>
              <a:t>28-07-2025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107240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82ACA62-35DF-4719-8C45-C49A9672AEDB}" type="datetimeFigureOut">
              <a:rPr lang="en-IN" smtClean="0"/>
              <a:t>28-07-2025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895246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82ACA62-35DF-4719-8C45-C49A9672AEDB}" type="datetimeFigureOut">
              <a:rPr lang="en-IN" smtClean="0"/>
              <a:t>28-07-2025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1A0DF39-ED85-4474-8E39-6C0E7DD4FA1C}" type="slidenum">
              <a:rPr lang="en-IN" smtClean="0"/>
              <a:t>‹#›</a:t>
            </a:fld>
            <a:endParaRPr lang="en-IN"/>
          </a:p>
        </p:txBody>
      </p:sp>
    </p:spTree>
    <p:extLst>
      <p:ext uri="{BB962C8B-B14F-4D97-AF65-F5344CB8AC3E}">
        <p14:creationId xmlns:p14="http://schemas.microsoft.com/office/powerpoint/2010/main" val="1495489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2ACA62-35DF-4719-8C45-C49A9672AEDB}" type="datetimeFigureOut">
              <a:rPr lang="en-IN" smtClean="0"/>
              <a:t>28-07-2025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2297673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ACA62-35DF-4719-8C45-C49A9672AEDB}" type="datetimeFigureOut">
              <a:rPr lang="en-IN" smtClean="0"/>
              <a:t>28-07-2025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2498211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2ACA62-35DF-4719-8C45-C49A9672AEDB}" type="datetimeFigureOut">
              <a:rPr lang="en-IN" smtClean="0"/>
              <a:t>28-07-2025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A0DF39-ED85-4474-8E39-6C0E7DD4FA1C}" type="slidenum">
              <a:rPr lang="en-IN" smtClean="0"/>
              <a:t>‹#›</a:t>
            </a:fld>
            <a:endParaRPr lang="en-IN"/>
          </a:p>
        </p:txBody>
      </p:sp>
    </p:spTree>
    <p:extLst>
      <p:ext uri="{BB962C8B-B14F-4D97-AF65-F5344CB8AC3E}">
        <p14:creationId xmlns:p14="http://schemas.microsoft.com/office/powerpoint/2010/main" val="908194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82ACA62-35DF-4719-8C45-C49A9672AEDB}" type="datetimeFigureOut">
              <a:rPr lang="en-IN" smtClean="0"/>
              <a:t>28-07-2025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1A0DF39-ED85-4474-8E39-6C0E7DD4FA1C}"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5121431"/>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AEDFD-1DD7-B8A3-35A5-C96386B4ED1E}"/>
              </a:ext>
            </a:extLst>
          </p:cNvPr>
          <p:cNvSpPr>
            <a:spLocks noGrp="1"/>
          </p:cNvSpPr>
          <p:nvPr>
            <p:ph type="ctrTitle"/>
          </p:nvPr>
        </p:nvSpPr>
        <p:spPr/>
        <p:txBody>
          <a:bodyPr>
            <a:normAutofit/>
          </a:bodyPr>
          <a:lstStyle/>
          <a:p>
            <a:r>
              <a:rPr lang="en-US" sz="6000" b="1" dirty="0"/>
              <a:t>Securing Lightweight Authentication Protocol </a:t>
            </a:r>
            <a:r>
              <a:rPr lang="en-US" sz="6000" b="1"/>
              <a:t>against Quantum </a:t>
            </a:r>
            <a:r>
              <a:rPr lang="en-US" sz="6000" b="1" dirty="0"/>
              <a:t>Attacks.</a:t>
            </a:r>
            <a:endParaRPr lang="en-IN" sz="6000" b="1" dirty="0"/>
          </a:p>
        </p:txBody>
      </p:sp>
      <p:sp>
        <p:nvSpPr>
          <p:cNvPr id="3" name="Subtitle 2">
            <a:extLst>
              <a:ext uri="{FF2B5EF4-FFF2-40B4-BE49-F238E27FC236}">
                <a16:creationId xmlns:a16="http://schemas.microsoft.com/office/drawing/2014/main" id="{3E1E83E9-2B9E-C8C0-D5BA-CA3D436030C7}"/>
              </a:ext>
            </a:extLst>
          </p:cNvPr>
          <p:cNvSpPr>
            <a:spLocks noGrp="1"/>
          </p:cNvSpPr>
          <p:nvPr>
            <p:ph type="subTitle" idx="1"/>
          </p:nvPr>
        </p:nvSpPr>
        <p:spPr>
          <a:xfrm>
            <a:off x="1097280" y="4586128"/>
            <a:ext cx="10058400" cy="1643427"/>
          </a:xfrm>
        </p:spPr>
        <p:txBody>
          <a:bodyPr>
            <a:noAutofit/>
          </a:bodyPr>
          <a:lstStyle/>
          <a:p>
            <a:pPr algn="r"/>
            <a:r>
              <a:rPr lang="en-US" sz="2000" b="1" dirty="0">
                <a:solidFill>
                  <a:schemeClr val="tx1"/>
                </a:solidFill>
              </a:rPr>
              <a:t>By Kare JAI SAI chaitanya - 23MCMT16</a:t>
            </a:r>
          </a:p>
          <a:p>
            <a:pPr algn="r"/>
            <a:r>
              <a:rPr lang="en-US" sz="2000" b="1" dirty="0">
                <a:solidFill>
                  <a:schemeClr val="tx1"/>
                </a:solidFill>
              </a:rPr>
              <a:t>Under guidance </a:t>
            </a:r>
          </a:p>
          <a:p>
            <a:pPr algn="r"/>
            <a:r>
              <a:rPr lang="en-US" sz="2000" b="1" dirty="0">
                <a:solidFill>
                  <a:schemeClr val="tx1"/>
                </a:solidFill>
              </a:rPr>
              <a:t>	Dr. Rajendra prasad </a:t>
            </a:r>
            <a:r>
              <a:rPr lang="en-US" sz="2000" b="1" dirty="0" err="1">
                <a:solidFill>
                  <a:schemeClr val="tx1"/>
                </a:solidFill>
              </a:rPr>
              <a:t>lal</a:t>
            </a:r>
            <a:endParaRPr lang="en-US" sz="2000" b="1" dirty="0">
              <a:solidFill>
                <a:schemeClr val="tx1"/>
              </a:solidFill>
            </a:endParaRPr>
          </a:p>
          <a:p>
            <a:pPr algn="r"/>
            <a:r>
              <a:rPr lang="en-US" sz="2000" b="1" dirty="0">
                <a:solidFill>
                  <a:schemeClr val="tx1"/>
                </a:solidFill>
              </a:rPr>
              <a:t>	Dr. M a </a:t>
            </a:r>
            <a:r>
              <a:rPr lang="en-US" sz="2000" b="1" dirty="0" err="1">
                <a:solidFill>
                  <a:schemeClr val="tx1"/>
                </a:solidFill>
              </a:rPr>
              <a:t>saifullah</a:t>
            </a:r>
            <a:endParaRPr lang="en-IN" sz="2000" b="1" dirty="0">
              <a:solidFill>
                <a:schemeClr val="tx1"/>
              </a:solidFill>
            </a:endParaRPr>
          </a:p>
        </p:txBody>
      </p:sp>
      <p:pic>
        <p:nvPicPr>
          <p:cNvPr id="5" name="Picture 4">
            <a:extLst>
              <a:ext uri="{FF2B5EF4-FFF2-40B4-BE49-F238E27FC236}">
                <a16:creationId xmlns:a16="http://schemas.microsoft.com/office/drawing/2014/main" id="{4CBA817E-9EAA-8032-030D-63504EC584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933" y="4575369"/>
            <a:ext cx="1643231" cy="1654186"/>
          </a:xfrm>
          <a:prstGeom prst="rect">
            <a:avLst/>
          </a:prstGeom>
        </p:spPr>
      </p:pic>
    </p:spTree>
    <p:extLst>
      <p:ext uri="{BB962C8B-B14F-4D97-AF65-F5344CB8AC3E}">
        <p14:creationId xmlns:p14="http://schemas.microsoft.com/office/powerpoint/2010/main" val="1261180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9A520-32BC-31B0-879C-34C00089243B}"/>
              </a:ext>
            </a:extLst>
          </p:cNvPr>
          <p:cNvSpPr>
            <a:spLocks noGrp="1"/>
          </p:cNvSpPr>
          <p:nvPr>
            <p:ph type="title"/>
          </p:nvPr>
        </p:nvSpPr>
        <p:spPr/>
        <p:txBody>
          <a:bodyPr/>
          <a:lstStyle/>
          <a:p>
            <a:r>
              <a:rPr lang="en-US" b="1" dirty="0"/>
              <a:t>Context and Motivation</a:t>
            </a:r>
            <a:endParaRPr lang="en-IN" b="1" dirty="0"/>
          </a:p>
        </p:txBody>
      </p:sp>
      <p:sp>
        <p:nvSpPr>
          <p:cNvPr id="8" name="Rectangle 2">
            <a:extLst>
              <a:ext uri="{FF2B5EF4-FFF2-40B4-BE49-F238E27FC236}">
                <a16:creationId xmlns:a16="http://schemas.microsoft.com/office/drawing/2014/main" id="{EC5E526B-BE19-BB28-E666-E658204B97D5}"/>
              </a:ext>
            </a:extLst>
          </p:cNvPr>
          <p:cNvSpPr>
            <a:spLocks noGrp="1" noChangeArrowheads="1"/>
          </p:cNvSpPr>
          <p:nvPr>
            <p:ph idx="1"/>
          </p:nvPr>
        </p:nvSpPr>
        <p:spPr bwMode="auto">
          <a:xfrm>
            <a:off x="1170016" y="2733339"/>
            <a:ext cx="10058400" cy="2224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defRPr sz="1800" b="0"/>
            </a:pPr>
            <a:r>
              <a:rPr lang="en-US" sz="3200" dirty="0"/>
              <a:t>• Emerging networks like SDN-enabled WSNs require secure communication.</a:t>
            </a:r>
          </a:p>
          <a:p>
            <a:pPr>
              <a:defRPr sz="1800" b="0"/>
            </a:pPr>
            <a:r>
              <a:rPr lang="en-US" sz="3200" dirty="0"/>
              <a:t>• EN-LAKP is effective but vulnerable to quantum threats.</a:t>
            </a:r>
          </a:p>
          <a:p>
            <a:pPr>
              <a:defRPr sz="1800" b="0"/>
            </a:pPr>
            <a:r>
              <a:rPr lang="en-US" sz="3200" dirty="0"/>
              <a:t>• Goal: Incorporate quantum-safe techniques.</a:t>
            </a:r>
          </a:p>
        </p:txBody>
      </p:sp>
    </p:spTree>
    <p:extLst>
      <p:ext uri="{BB962C8B-B14F-4D97-AF65-F5344CB8AC3E}">
        <p14:creationId xmlns:p14="http://schemas.microsoft.com/office/powerpoint/2010/main" val="2818228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14F0D-A0F0-548E-ED85-BDAE5D8E1865}"/>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ACBE9C36-C8F2-E108-A664-4B41629CC15B}"/>
              </a:ext>
            </a:extLst>
          </p:cNvPr>
          <p:cNvSpPr>
            <a:spLocks noGrp="1"/>
          </p:cNvSpPr>
          <p:nvPr>
            <p:ph idx="1"/>
          </p:nvPr>
        </p:nvSpPr>
        <p:spPr>
          <a:xfrm>
            <a:off x="1066800" y="2883473"/>
            <a:ext cx="10058400" cy="2237168"/>
          </a:xfrm>
        </p:spPr>
        <p:txBody>
          <a:bodyPr>
            <a:noAutofit/>
          </a:bodyPr>
          <a:lstStyle/>
          <a:p>
            <a:pPr algn="just"/>
            <a:r>
              <a:rPr lang="en-US" sz="2400" dirty="0"/>
              <a:t>This project focuses on improving EN-LAKP to make it secure against quantum threats. The goal is to add new, quantum-safe security techniques while keeping the protocol lightweight and efficient so it can still work well on small devices. This will ensure EN-LAKP stays reliable and secure in the future, even in the age of quantum computing.</a:t>
            </a:r>
          </a:p>
          <a:p>
            <a:pPr algn="just"/>
            <a:endParaRPr lang="en-IN" sz="2400" dirty="0"/>
          </a:p>
        </p:txBody>
      </p:sp>
    </p:spTree>
    <p:extLst>
      <p:ext uri="{BB962C8B-B14F-4D97-AF65-F5344CB8AC3E}">
        <p14:creationId xmlns:p14="http://schemas.microsoft.com/office/powerpoint/2010/main" val="122281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4BB6-375E-D419-B027-123B4C7DDEC7}"/>
              </a:ext>
            </a:extLst>
          </p:cNvPr>
          <p:cNvSpPr>
            <a:spLocks noGrp="1"/>
          </p:cNvSpPr>
          <p:nvPr>
            <p:ph type="title"/>
          </p:nvPr>
        </p:nvSpPr>
        <p:spPr/>
        <p:txBody>
          <a:bodyPr/>
          <a:lstStyle/>
          <a:p>
            <a:r>
              <a:rPr lang="en-US" b="1" dirty="0"/>
              <a:t>Research Objectives</a:t>
            </a:r>
            <a:endParaRPr lang="en-IN" b="1" dirty="0"/>
          </a:p>
        </p:txBody>
      </p:sp>
      <p:sp>
        <p:nvSpPr>
          <p:cNvPr id="3" name="Content Placeholder 2">
            <a:extLst>
              <a:ext uri="{FF2B5EF4-FFF2-40B4-BE49-F238E27FC236}">
                <a16:creationId xmlns:a16="http://schemas.microsoft.com/office/drawing/2014/main" id="{107DCA2C-F86D-7A77-14F5-4B1793F37D17}"/>
              </a:ext>
            </a:extLst>
          </p:cNvPr>
          <p:cNvSpPr>
            <a:spLocks noGrp="1"/>
          </p:cNvSpPr>
          <p:nvPr>
            <p:ph idx="1"/>
          </p:nvPr>
        </p:nvSpPr>
        <p:spPr>
          <a:xfrm>
            <a:off x="5108172" y="2433737"/>
            <a:ext cx="10058400" cy="4023360"/>
          </a:xfrm>
        </p:spPr>
        <p:txBody>
          <a:bodyPr>
            <a:normAutofit/>
          </a:bodyPr>
          <a:lstStyle/>
          <a:p>
            <a:pPr marL="457200" indent="-457200">
              <a:buFont typeface="+mj-lt"/>
              <a:buAutoNum type="arabicPeriod"/>
            </a:pPr>
            <a:r>
              <a:rPr lang="en-US" sz="2800" dirty="0">
                <a:solidFill>
                  <a:schemeClr val="tx1"/>
                </a:solidFill>
              </a:rPr>
              <a:t>Analyze Existing Vulnerabilities</a:t>
            </a:r>
          </a:p>
          <a:p>
            <a:pPr marL="457200" indent="-457200">
              <a:buFont typeface="+mj-lt"/>
              <a:buAutoNum type="arabicPeriod"/>
            </a:pPr>
            <a:r>
              <a:rPr lang="en-US" sz="2800" dirty="0">
                <a:solidFill>
                  <a:schemeClr val="tx1"/>
                </a:solidFill>
              </a:rPr>
              <a:t>Incorporate Quantum-Safe Techniques</a:t>
            </a:r>
          </a:p>
          <a:p>
            <a:pPr marL="457200" indent="-457200">
              <a:buFont typeface="+mj-lt"/>
              <a:buAutoNum type="arabicPeriod"/>
            </a:pPr>
            <a:r>
              <a:rPr lang="en-US" sz="2800" dirty="0">
                <a:solidFill>
                  <a:schemeClr val="tx1"/>
                </a:solidFill>
              </a:rPr>
              <a:t>Optimize Lightweight Operations</a:t>
            </a:r>
          </a:p>
          <a:p>
            <a:pPr marL="457200" indent="-457200">
              <a:buFont typeface="+mj-lt"/>
              <a:buAutoNum type="arabicPeriod"/>
            </a:pPr>
            <a:r>
              <a:rPr lang="en-US" sz="2800" dirty="0">
                <a:solidFill>
                  <a:schemeClr val="tx1"/>
                </a:solidFill>
              </a:rPr>
              <a:t>Perform Formal Security Analysis</a:t>
            </a:r>
          </a:p>
          <a:p>
            <a:pPr marL="457200" indent="-457200">
              <a:buFont typeface="+mj-lt"/>
              <a:buAutoNum type="arabicPeriod"/>
            </a:pPr>
            <a:r>
              <a:rPr lang="en-US" sz="2800" dirty="0">
                <a:solidFill>
                  <a:schemeClr val="tx1"/>
                </a:solidFill>
              </a:rPr>
              <a:t>Evaluate Communication Efficiency</a:t>
            </a:r>
            <a:endParaRPr lang="en-IN" sz="2800" dirty="0">
              <a:solidFill>
                <a:schemeClr val="tx1"/>
              </a:solidFill>
            </a:endParaRPr>
          </a:p>
        </p:txBody>
      </p:sp>
      <p:pic>
        <p:nvPicPr>
          <p:cNvPr id="9" name="Picture 8">
            <a:extLst>
              <a:ext uri="{FF2B5EF4-FFF2-40B4-BE49-F238E27FC236}">
                <a16:creationId xmlns:a16="http://schemas.microsoft.com/office/drawing/2014/main" id="{8892CE52-03A9-8B77-9796-993D813281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3" y="3736714"/>
            <a:ext cx="4514581" cy="2541994"/>
          </a:xfrm>
          <a:prstGeom prst="rect">
            <a:avLst/>
          </a:prstGeom>
        </p:spPr>
      </p:pic>
    </p:spTree>
    <p:extLst>
      <p:ext uri="{BB962C8B-B14F-4D97-AF65-F5344CB8AC3E}">
        <p14:creationId xmlns:p14="http://schemas.microsoft.com/office/powerpoint/2010/main" val="3915115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A46EC-30B4-CA75-E571-6D3D363C1B56}"/>
            </a:ext>
          </a:extLst>
        </p:cNvPr>
        <p:cNvGrpSpPr/>
        <p:nvPr/>
      </p:nvGrpSpPr>
      <p:grpSpPr>
        <a:xfrm>
          <a:off x="0" y="0"/>
          <a:ext cx="0" cy="0"/>
          <a:chOff x="0" y="0"/>
          <a:chExt cx="0" cy="0"/>
        </a:xfrm>
      </p:grpSpPr>
      <p:pic>
        <p:nvPicPr>
          <p:cNvPr id="9218" name="Picture 2" descr="Study Background Vector Art, Icons, and Graphics for Free Download">
            <a:extLst>
              <a:ext uri="{FF2B5EF4-FFF2-40B4-BE49-F238E27FC236}">
                <a16:creationId xmlns:a16="http://schemas.microsoft.com/office/drawing/2014/main" id="{948B9D85-A402-405C-D309-C3C424D4C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600A7FC-FEB2-9D00-A63A-5A448E8F9E84}"/>
              </a:ext>
            </a:extLst>
          </p:cNvPr>
          <p:cNvSpPr txBox="1"/>
          <p:nvPr/>
        </p:nvSpPr>
        <p:spPr>
          <a:xfrm>
            <a:off x="3522518" y="2337955"/>
            <a:ext cx="6186052" cy="2554545"/>
          </a:xfrm>
          <a:prstGeom prst="rect">
            <a:avLst/>
          </a:prstGeom>
          <a:noFill/>
        </p:spPr>
        <p:txBody>
          <a:bodyPr wrap="none" rtlCol="0">
            <a:spAutoFit/>
          </a:bodyPr>
          <a:lstStyle/>
          <a:p>
            <a:pPr algn="ctr"/>
            <a:r>
              <a:rPr lang="en-US" sz="8000" b="1" dirty="0">
                <a:solidFill>
                  <a:schemeClr val="bg2">
                    <a:lumMod val="50000"/>
                  </a:schemeClr>
                </a:solidFill>
                <a:latin typeface="+mj-lt"/>
              </a:rPr>
              <a:t>RESEARCH</a:t>
            </a:r>
          </a:p>
          <a:p>
            <a:pPr algn="ctr"/>
            <a:r>
              <a:rPr lang="en-US" sz="8000" b="1" dirty="0">
                <a:solidFill>
                  <a:schemeClr val="bg2">
                    <a:lumMod val="50000"/>
                  </a:schemeClr>
                </a:solidFill>
                <a:latin typeface="+mj-lt"/>
              </a:rPr>
              <a:t>BACKGROUND</a:t>
            </a:r>
          </a:p>
        </p:txBody>
      </p:sp>
    </p:spTree>
    <p:extLst>
      <p:ext uri="{BB962C8B-B14F-4D97-AF65-F5344CB8AC3E}">
        <p14:creationId xmlns:p14="http://schemas.microsoft.com/office/powerpoint/2010/main" val="417041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478F3-77E8-3DE3-2675-9E05BEA87790}"/>
              </a:ext>
            </a:extLst>
          </p:cNvPr>
          <p:cNvSpPr>
            <a:spLocks noGrp="1"/>
          </p:cNvSpPr>
          <p:nvPr>
            <p:ph type="title"/>
          </p:nvPr>
        </p:nvSpPr>
        <p:spPr>
          <a:xfrm>
            <a:off x="1097280" y="74645"/>
            <a:ext cx="10058400" cy="1662715"/>
          </a:xfrm>
        </p:spPr>
        <p:txBody>
          <a:bodyPr>
            <a:noAutofit/>
          </a:bodyPr>
          <a:lstStyle/>
          <a:p>
            <a:r>
              <a:rPr lang="en-US" sz="4400" b="1" dirty="0"/>
              <a:t>Overview of EN-LAKP (Lightweight Authentication and Key Agreement Protocol)</a:t>
            </a:r>
            <a:endParaRPr lang="en-IN" sz="4400" b="1" dirty="0"/>
          </a:p>
        </p:txBody>
      </p:sp>
      <p:sp>
        <p:nvSpPr>
          <p:cNvPr id="3" name="Content Placeholder 2">
            <a:extLst>
              <a:ext uri="{FF2B5EF4-FFF2-40B4-BE49-F238E27FC236}">
                <a16:creationId xmlns:a16="http://schemas.microsoft.com/office/drawing/2014/main" id="{4EBF582A-A9F5-A403-1303-7FF7BA30EBC3}"/>
              </a:ext>
            </a:extLst>
          </p:cNvPr>
          <p:cNvSpPr>
            <a:spLocks noGrp="1"/>
          </p:cNvSpPr>
          <p:nvPr>
            <p:ph idx="1"/>
          </p:nvPr>
        </p:nvSpPr>
        <p:spPr>
          <a:xfrm>
            <a:off x="754380" y="1876906"/>
            <a:ext cx="10904220" cy="4679757"/>
          </a:xfrm>
        </p:spPr>
        <p:txBody>
          <a:bodyPr>
            <a:noAutofit/>
          </a:bodyPr>
          <a:lstStyle/>
          <a:p>
            <a:r>
              <a:rPr lang="en-US" sz="2400" b="1" dirty="0"/>
              <a:t>Purpose of EN-LAKP  : </a:t>
            </a:r>
          </a:p>
          <a:p>
            <a:pPr lvl="1"/>
            <a:r>
              <a:rPr lang="en-US" sz="2400" dirty="0"/>
              <a:t>Designed for SDN-enabled Wireless Sensor Networks WSN), EN-LAKP ensures secure communication through lightweight authentication and key agreement. </a:t>
            </a:r>
          </a:p>
          <a:p>
            <a:r>
              <a:rPr lang="en-US" sz="2400" b="1" dirty="0"/>
              <a:t>Key Features:</a:t>
            </a:r>
          </a:p>
          <a:p>
            <a:pPr lvl="1"/>
            <a:r>
              <a:rPr lang="en-US" sz="2400" dirty="0"/>
              <a:t>Centralized control using an SDN Controller</a:t>
            </a:r>
          </a:p>
          <a:p>
            <a:pPr lvl="1"/>
            <a:r>
              <a:rPr lang="en-US" sz="2400" dirty="0"/>
              <a:t>Lightweight operations like Hash functions and XOR, ensuring low computational and communication overhead.</a:t>
            </a:r>
          </a:p>
          <a:p>
            <a:pPr lvl="1"/>
            <a:r>
              <a:rPr lang="en-US" sz="2400" dirty="0"/>
              <a:t>Protects communication in resource-constrained environments.</a:t>
            </a:r>
          </a:p>
          <a:p>
            <a:r>
              <a:rPr lang="en-US" sz="2400" b="1" dirty="0"/>
              <a:t>Limitations :</a:t>
            </a:r>
          </a:p>
          <a:p>
            <a:pPr lvl="1"/>
            <a:r>
              <a:rPr lang="en-IN" sz="2400" dirty="0"/>
              <a:t>Vulnerable to quantum computing attacks (e.g., Shor’s algorithm undermines ECC-based key exchange).</a:t>
            </a:r>
            <a:endParaRPr lang="en-US" sz="2400" dirty="0"/>
          </a:p>
        </p:txBody>
      </p:sp>
    </p:spTree>
    <p:extLst>
      <p:ext uri="{BB962C8B-B14F-4D97-AF65-F5344CB8AC3E}">
        <p14:creationId xmlns:p14="http://schemas.microsoft.com/office/powerpoint/2010/main" val="186412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DB3F19-8FA6-F96A-B0E9-C090156A0619}"/>
              </a:ext>
            </a:extLst>
          </p:cNvPr>
          <p:cNvSpPr txBox="1"/>
          <p:nvPr/>
        </p:nvSpPr>
        <p:spPr>
          <a:xfrm>
            <a:off x="630383" y="1789745"/>
            <a:ext cx="9328439" cy="3046988"/>
          </a:xfrm>
          <a:prstGeom prst="rect">
            <a:avLst/>
          </a:prstGeom>
          <a:noFill/>
        </p:spPr>
        <p:txBody>
          <a:bodyPr wrap="square">
            <a:spAutoFit/>
          </a:bodyPr>
          <a:lstStyle/>
          <a:p>
            <a:r>
              <a:rPr lang="en-IN" sz="3200" b="1" dirty="0"/>
              <a:t>What Is Quantum Computing?</a:t>
            </a:r>
          </a:p>
          <a:p>
            <a:endParaRPr lang="en-IN" sz="3200" dirty="0"/>
          </a:p>
          <a:p>
            <a:pPr>
              <a:buFont typeface="Arial" panose="020B0604020202020204" pitchFamily="34" charset="0"/>
              <a:buChar char="•"/>
            </a:pPr>
            <a:r>
              <a:rPr lang="en-US" sz="3200" dirty="0"/>
              <a:t>Quantum computing is a new and advanced area of computer science that uses the special properties of quantum mechanics to solve problems that are too hard for even the most powerful regular computers.</a:t>
            </a:r>
            <a:endParaRPr lang="en-IN" sz="3200" dirty="0"/>
          </a:p>
        </p:txBody>
      </p:sp>
      <p:pic>
        <p:nvPicPr>
          <p:cNvPr id="6146" name="Picture 2" descr="What quantum computing could mean for customer experience - Steven Van  Belleghem">
            <a:extLst>
              <a:ext uri="{FF2B5EF4-FFF2-40B4-BE49-F238E27FC236}">
                <a16:creationId xmlns:a16="http://schemas.microsoft.com/office/drawing/2014/main" id="{7E7EDA00-07F8-DB89-FE8B-758C84C0E5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1370" y="131073"/>
            <a:ext cx="4180363" cy="2508218"/>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45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2F3E-D496-ECA6-6154-44B495C2F20E}"/>
              </a:ext>
            </a:extLst>
          </p:cNvPr>
          <p:cNvSpPr>
            <a:spLocks noGrp="1"/>
          </p:cNvSpPr>
          <p:nvPr>
            <p:ph type="title"/>
          </p:nvPr>
        </p:nvSpPr>
        <p:spPr/>
        <p:txBody>
          <a:bodyPr/>
          <a:lstStyle/>
          <a:p>
            <a:r>
              <a:rPr lang="en-US" b="1" dirty="0"/>
              <a:t>Quantum Computing Threats</a:t>
            </a:r>
            <a:endParaRPr lang="en-IN" b="1" dirty="0"/>
          </a:p>
        </p:txBody>
      </p:sp>
      <p:sp>
        <p:nvSpPr>
          <p:cNvPr id="3" name="Content Placeholder 2">
            <a:extLst>
              <a:ext uri="{FF2B5EF4-FFF2-40B4-BE49-F238E27FC236}">
                <a16:creationId xmlns:a16="http://schemas.microsoft.com/office/drawing/2014/main" id="{D4B7417A-8956-5928-8224-ED880CA65729}"/>
              </a:ext>
            </a:extLst>
          </p:cNvPr>
          <p:cNvSpPr>
            <a:spLocks noGrp="1"/>
          </p:cNvSpPr>
          <p:nvPr>
            <p:ph sz="half" idx="1"/>
          </p:nvPr>
        </p:nvSpPr>
        <p:spPr>
          <a:xfrm>
            <a:off x="1097278" y="1845733"/>
            <a:ext cx="4937760" cy="4471939"/>
          </a:xfrm>
        </p:spPr>
        <p:txBody>
          <a:bodyPr>
            <a:noAutofit/>
          </a:bodyPr>
          <a:lstStyle/>
          <a:p>
            <a:r>
              <a:rPr lang="en-IN" sz="2400" b="1" dirty="0"/>
              <a:t>Shor's Algorithm :</a:t>
            </a:r>
          </a:p>
          <a:p>
            <a:r>
              <a:rPr lang="en-US" sz="2400" dirty="0"/>
              <a:t>Breaks asymmetric cryptography (RSA, ECC) by solving factorization and discrete logarithm problems in polynomial time.</a:t>
            </a:r>
          </a:p>
          <a:p>
            <a:endParaRPr lang="en-US" sz="2400" dirty="0"/>
          </a:p>
          <a:p>
            <a:r>
              <a:rPr lang="en-US" sz="2400" b="1" dirty="0"/>
              <a:t>Relevance to EN-LAKP</a:t>
            </a:r>
            <a:r>
              <a:rPr lang="en-US" sz="2400" dirty="0"/>
              <a:t>: </a:t>
            </a:r>
          </a:p>
          <a:p>
            <a:r>
              <a:rPr lang="en-US" sz="2400" dirty="0"/>
              <a:t>Although EN-LAKP itself may not use RSA or ECC directly, if it relies on asymmetric key exchanges during key distribution.</a:t>
            </a:r>
            <a:endParaRPr lang="en-IN" sz="2400" dirty="0"/>
          </a:p>
        </p:txBody>
      </p:sp>
      <p:sp>
        <p:nvSpPr>
          <p:cNvPr id="4" name="Content Placeholder 3">
            <a:extLst>
              <a:ext uri="{FF2B5EF4-FFF2-40B4-BE49-F238E27FC236}">
                <a16:creationId xmlns:a16="http://schemas.microsoft.com/office/drawing/2014/main" id="{5CA42D2F-EEF3-7223-4F66-F617C2E905DF}"/>
              </a:ext>
            </a:extLst>
          </p:cNvPr>
          <p:cNvSpPr>
            <a:spLocks noGrp="1"/>
          </p:cNvSpPr>
          <p:nvPr>
            <p:ph sz="half" idx="2"/>
          </p:nvPr>
        </p:nvSpPr>
        <p:spPr>
          <a:xfrm>
            <a:off x="6332220" y="1873057"/>
            <a:ext cx="4937760" cy="4357638"/>
          </a:xfrm>
        </p:spPr>
        <p:txBody>
          <a:bodyPr>
            <a:normAutofit lnSpcReduction="10000"/>
          </a:bodyPr>
          <a:lstStyle/>
          <a:p>
            <a:r>
              <a:rPr lang="en-IN" sz="2400" b="1" dirty="0"/>
              <a:t>Grover's Algorithm</a:t>
            </a:r>
            <a:r>
              <a:rPr lang="en-IN" sz="2400" dirty="0"/>
              <a:t>:</a:t>
            </a:r>
          </a:p>
          <a:p>
            <a:r>
              <a:rPr lang="en-US" sz="2400" dirty="0"/>
              <a:t>Speeds up brute-force attacks on symmetric cryptography, effectively halving the key length.</a:t>
            </a:r>
          </a:p>
          <a:p>
            <a:pPr marL="0" indent="0">
              <a:buNone/>
            </a:pPr>
            <a:endParaRPr lang="en-US" sz="2400" dirty="0"/>
          </a:p>
          <a:p>
            <a:pPr marL="0" indent="0">
              <a:buNone/>
            </a:pPr>
            <a:r>
              <a:rPr lang="en-US" sz="2400" b="1" dirty="0"/>
              <a:t>Relevance to EN-LAKP</a:t>
            </a:r>
            <a:r>
              <a:rPr lang="en-US" sz="2400" dirty="0"/>
              <a:t>: </a:t>
            </a:r>
          </a:p>
          <a:p>
            <a:pPr marL="0" indent="0">
              <a:buNone/>
            </a:pPr>
            <a:r>
              <a:rPr lang="en-US" sz="2400" dirty="0"/>
              <a:t>EN-LAKP’s relies on hash-based and symmetric key mechanisms makes it vulnerable to Grover’s algorithm as it can reduce the effective strength of a 128-bit key to 64 bits which compromises security.</a:t>
            </a:r>
            <a:endParaRPr lang="en-IN" sz="2400" dirty="0"/>
          </a:p>
        </p:txBody>
      </p:sp>
    </p:spTree>
    <p:extLst>
      <p:ext uri="{BB962C8B-B14F-4D97-AF65-F5344CB8AC3E}">
        <p14:creationId xmlns:p14="http://schemas.microsoft.com/office/powerpoint/2010/main" val="185318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91263-11FC-2C5C-037C-7BF7AD1D88CE}"/>
              </a:ext>
            </a:extLst>
          </p:cNvPr>
          <p:cNvSpPr>
            <a:spLocks noGrp="1"/>
          </p:cNvSpPr>
          <p:nvPr>
            <p:ph type="title"/>
          </p:nvPr>
        </p:nvSpPr>
        <p:spPr/>
        <p:txBody>
          <a:bodyPr/>
          <a:lstStyle/>
          <a:p>
            <a:r>
              <a:rPr lang="en-IN" b="1" dirty="0"/>
              <a:t>Need for Quantum-Resistant Cryptography</a:t>
            </a:r>
          </a:p>
        </p:txBody>
      </p:sp>
      <p:sp>
        <p:nvSpPr>
          <p:cNvPr id="3" name="Content Placeholder 2">
            <a:extLst>
              <a:ext uri="{FF2B5EF4-FFF2-40B4-BE49-F238E27FC236}">
                <a16:creationId xmlns:a16="http://schemas.microsoft.com/office/drawing/2014/main" id="{78647349-2096-E625-073D-34C76AC82A8B}"/>
              </a:ext>
            </a:extLst>
          </p:cNvPr>
          <p:cNvSpPr>
            <a:spLocks noGrp="1"/>
          </p:cNvSpPr>
          <p:nvPr>
            <p:ph idx="1"/>
          </p:nvPr>
        </p:nvSpPr>
        <p:spPr>
          <a:xfrm>
            <a:off x="1097280" y="1845734"/>
            <a:ext cx="10602884" cy="4482330"/>
          </a:xfrm>
        </p:spPr>
        <p:txBody>
          <a:bodyPr>
            <a:noAutofit/>
          </a:bodyPr>
          <a:lstStyle/>
          <a:p>
            <a:r>
              <a:rPr lang="en-IN" sz="2400" b="1" dirty="0"/>
              <a:t>Specific Risks to EN-LAKP :</a:t>
            </a:r>
          </a:p>
          <a:p>
            <a:pPr marL="544068" lvl="1" indent="-342900">
              <a:buFont typeface="+mj-lt"/>
              <a:buAutoNum type="arabicPeriod"/>
            </a:pPr>
            <a:r>
              <a:rPr lang="en-IN" sz="2400" dirty="0"/>
              <a:t>Key Agreement Weakness</a:t>
            </a:r>
          </a:p>
          <a:p>
            <a:pPr marL="544068" lvl="1" indent="-342900">
              <a:buFont typeface="+mj-lt"/>
              <a:buAutoNum type="arabicPeriod"/>
            </a:pPr>
            <a:r>
              <a:rPr lang="en-IN" sz="2400" dirty="0"/>
              <a:t>Authentication Flaws</a:t>
            </a:r>
          </a:p>
          <a:p>
            <a:pPr marL="544068" lvl="1" indent="-342900">
              <a:buFont typeface="+mj-lt"/>
              <a:buAutoNum type="arabicPeriod"/>
            </a:pPr>
            <a:r>
              <a:rPr lang="en-IN" sz="2400" dirty="0"/>
              <a:t>Resource Constrained</a:t>
            </a:r>
          </a:p>
          <a:p>
            <a:pPr marL="201168" lvl="1" indent="0">
              <a:buNone/>
            </a:pPr>
            <a:endParaRPr lang="en-IN" sz="2400" b="1" dirty="0"/>
          </a:p>
          <a:p>
            <a:r>
              <a:rPr lang="en-IN" sz="2400" b="1" dirty="0"/>
              <a:t>Need for Quantum-Safe Enhancements : </a:t>
            </a:r>
          </a:p>
          <a:p>
            <a:pPr lvl="1">
              <a:buFont typeface="Wingdings" panose="05000000000000000000" pitchFamily="2" charset="2"/>
              <a:buChar char="q"/>
            </a:pPr>
            <a:r>
              <a:rPr lang="en-IN" sz="2400" b="1" dirty="0"/>
              <a:t>Emerging Solutions :</a:t>
            </a:r>
          </a:p>
          <a:p>
            <a:pPr marL="201168" lvl="1" indent="0">
              <a:buNone/>
            </a:pPr>
            <a:r>
              <a:rPr lang="en-IN" sz="2400" b="1" dirty="0"/>
              <a:t>	</a:t>
            </a:r>
            <a:r>
              <a:rPr lang="en-IN" sz="2400" dirty="0"/>
              <a:t>Lattice-based, hash-based and multivariate cryptography.</a:t>
            </a:r>
            <a:r>
              <a:rPr lang="en-IN" sz="2400" b="1" dirty="0"/>
              <a:t> </a:t>
            </a:r>
          </a:p>
          <a:p>
            <a:pPr lvl="1">
              <a:buFont typeface="Wingdings" panose="05000000000000000000" pitchFamily="2" charset="2"/>
              <a:buChar char="q"/>
            </a:pPr>
            <a:r>
              <a:rPr lang="en-IN" sz="2400" b="1" dirty="0"/>
              <a:t>Challenge</a:t>
            </a:r>
          </a:p>
          <a:p>
            <a:pPr marL="201168" lvl="1" indent="0">
              <a:buNone/>
            </a:pPr>
            <a:r>
              <a:rPr lang="en-IN" sz="2400" b="1" dirty="0"/>
              <a:t>	</a:t>
            </a:r>
            <a:r>
              <a:rPr lang="en-US" sz="2400" dirty="0"/>
              <a:t>Integrating quantum-resistant techniques without increasing computational and communication overhead.</a:t>
            </a:r>
            <a:endParaRPr lang="en-IN" sz="2400" b="1" dirty="0"/>
          </a:p>
        </p:txBody>
      </p:sp>
    </p:spTree>
    <p:extLst>
      <p:ext uri="{BB962C8B-B14F-4D97-AF65-F5344CB8AC3E}">
        <p14:creationId xmlns:p14="http://schemas.microsoft.com/office/powerpoint/2010/main" val="3663942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6915A-6F76-D908-F711-B122A170EC12}"/>
            </a:ext>
          </a:extLst>
        </p:cNvPr>
        <p:cNvGrpSpPr/>
        <p:nvPr/>
      </p:nvGrpSpPr>
      <p:grpSpPr>
        <a:xfrm>
          <a:off x="0" y="0"/>
          <a:ext cx="0" cy="0"/>
          <a:chOff x="0" y="0"/>
          <a:chExt cx="0" cy="0"/>
        </a:xfrm>
      </p:grpSpPr>
      <p:pic>
        <p:nvPicPr>
          <p:cNvPr id="9218" name="Picture 2" descr="Study Background Vector Art, Icons, and Graphics for Free Download">
            <a:extLst>
              <a:ext uri="{FF2B5EF4-FFF2-40B4-BE49-F238E27FC236}">
                <a16:creationId xmlns:a16="http://schemas.microsoft.com/office/drawing/2014/main" id="{6EF038BC-FF2B-C77A-82DD-A4BD1B5573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D5E7B6-F9D6-5B62-5486-EB3599785DB9}"/>
              </a:ext>
            </a:extLst>
          </p:cNvPr>
          <p:cNvSpPr txBox="1"/>
          <p:nvPr/>
        </p:nvSpPr>
        <p:spPr>
          <a:xfrm>
            <a:off x="3390548" y="1987637"/>
            <a:ext cx="6394576" cy="2554545"/>
          </a:xfrm>
          <a:prstGeom prst="rect">
            <a:avLst/>
          </a:prstGeom>
          <a:noFill/>
        </p:spPr>
        <p:txBody>
          <a:bodyPr wrap="square" rtlCol="0">
            <a:spAutoFit/>
          </a:bodyPr>
          <a:lstStyle/>
          <a:p>
            <a:pPr algn="ctr"/>
            <a:r>
              <a:rPr lang="en-US" sz="8000" b="1" dirty="0">
                <a:solidFill>
                  <a:schemeClr val="bg2">
                    <a:lumMod val="50000"/>
                  </a:schemeClr>
                </a:solidFill>
                <a:latin typeface="+mj-lt"/>
              </a:rPr>
              <a:t>Post Quantum Cryptography</a:t>
            </a:r>
          </a:p>
        </p:txBody>
      </p:sp>
      <p:pic>
        <p:nvPicPr>
          <p:cNvPr id="11266" name="Picture 2" descr="Post Quantum Cryptography: Data Security in a Post-Quantum World - Hashed  Out by The SSL Store™">
            <a:extLst>
              <a:ext uri="{FF2B5EF4-FFF2-40B4-BE49-F238E27FC236}">
                <a16:creationId xmlns:a16="http://schemas.microsoft.com/office/drawing/2014/main" id="{C024B53F-A89B-03E0-5396-50601FE0D3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6455" y="4750001"/>
            <a:ext cx="2279071" cy="1424419"/>
          </a:xfrm>
          <a:prstGeom prst="rect">
            <a:avLst/>
          </a:prstGeom>
          <a:noFill/>
          <a:effectLst>
            <a:softEdge rad="190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918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A4B2-6E75-76E7-217E-4C69E59E4C62}"/>
              </a:ext>
            </a:extLst>
          </p:cNvPr>
          <p:cNvSpPr>
            <a:spLocks noGrp="1"/>
          </p:cNvSpPr>
          <p:nvPr>
            <p:ph type="title"/>
          </p:nvPr>
        </p:nvSpPr>
        <p:spPr/>
        <p:txBody>
          <a:bodyPr/>
          <a:lstStyle/>
          <a:p>
            <a:r>
              <a:rPr lang="en-US" b="1" dirty="0"/>
              <a:t>PQC Algorithm Families</a:t>
            </a:r>
            <a:endParaRPr lang="en-IN" b="1" dirty="0"/>
          </a:p>
        </p:txBody>
      </p:sp>
      <p:graphicFrame>
        <p:nvGraphicFramePr>
          <p:cNvPr id="4" name="Content Placeholder 3">
            <a:extLst>
              <a:ext uri="{FF2B5EF4-FFF2-40B4-BE49-F238E27FC236}">
                <a16:creationId xmlns:a16="http://schemas.microsoft.com/office/drawing/2014/main" id="{2C7CCCEF-6F77-B59E-8FE8-8027057D9653}"/>
              </a:ext>
            </a:extLst>
          </p:cNvPr>
          <p:cNvGraphicFramePr>
            <a:graphicFrameLocks noGrp="1"/>
          </p:cNvGraphicFramePr>
          <p:nvPr>
            <p:ph idx="1"/>
            <p:extLst>
              <p:ext uri="{D42A27DB-BD31-4B8C-83A1-F6EECF244321}">
                <p14:modId xmlns:p14="http://schemas.microsoft.com/office/powerpoint/2010/main" val="3888543132"/>
              </p:ext>
            </p:extLst>
          </p:nvPr>
        </p:nvGraphicFramePr>
        <p:xfrm>
          <a:off x="578961" y="1846263"/>
          <a:ext cx="11095038" cy="4492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6973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384A-D4DC-F81C-58CC-4CFC338E543E}"/>
              </a:ext>
            </a:extLst>
          </p:cNvPr>
          <p:cNvSpPr>
            <a:spLocks noGrp="1"/>
          </p:cNvSpPr>
          <p:nvPr>
            <p:ph type="title"/>
          </p:nvPr>
        </p:nvSpPr>
        <p:spPr/>
        <p:txBody>
          <a:bodyPr/>
          <a:lstStyle/>
          <a:p>
            <a:r>
              <a:rPr lang="en-US" b="1" dirty="0"/>
              <a:t>Comparison of Algorithms</a:t>
            </a:r>
            <a:endParaRPr lang="en-IN" b="1" dirty="0"/>
          </a:p>
        </p:txBody>
      </p:sp>
      <p:sp>
        <p:nvSpPr>
          <p:cNvPr id="3" name="Content Placeholder 2">
            <a:extLst>
              <a:ext uri="{FF2B5EF4-FFF2-40B4-BE49-F238E27FC236}">
                <a16:creationId xmlns:a16="http://schemas.microsoft.com/office/drawing/2014/main" id="{EA4C6990-C745-E397-9F9F-98415C8F9D64}"/>
              </a:ext>
            </a:extLst>
          </p:cNvPr>
          <p:cNvSpPr>
            <a:spLocks noGrp="1"/>
          </p:cNvSpPr>
          <p:nvPr>
            <p:ph sz="half" idx="1"/>
          </p:nvPr>
        </p:nvSpPr>
        <p:spPr>
          <a:xfrm>
            <a:off x="1097277" y="1845733"/>
            <a:ext cx="9779829" cy="4533801"/>
          </a:xfrm>
        </p:spPr>
        <p:txBody>
          <a:bodyPr>
            <a:normAutofit/>
          </a:bodyPr>
          <a:lstStyle/>
          <a:p>
            <a:r>
              <a:rPr lang="en-US" sz="2800" dirty="0"/>
              <a:t>Focused on Key Agreement</a:t>
            </a:r>
          </a:p>
          <a:p>
            <a:endParaRPr lang="en-US" sz="2800" dirty="0"/>
          </a:p>
          <a:p>
            <a:endParaRPr lang="en-IN" sz="2800" dirty="0"/>
          </a:p>
        </p:txBody>
      </p:sp>
      <p:graphicFrame>
        <p:nvGraphicFramePr>
          <p:cNvPr id="5" name="Table 4">
            <a:extLst>
              <a:ext uri="{FF2B5EF4-FFF2-40B4-BE49-F238E27FC236}">
                <a16:creationId xmlns:a16="http://schemas.microsoft.com/office/drawing/2014/main" id="{5187070A-6F19-ED5B-5BDA-246F1E1F0A3B}"/>
              </a:ext>
            </a:extLst>
          </p:cNvPr>
          <p:cNvGraphicFramePr>
            <a:graphicFrameLocks noGrp="1"/>
          </p:cNvGraphicFramePr>
          <p:nvPr>
            <p:extLst>
              <p:ext uri="{D42A27DB-BD31-4B8C-83A1-F6EECF244321}">
                <p14:modId xmlns:p14="http://schemas.microsoft.com/office/powerpoint/2010/main" val="827974596"/>
              </p:ext>
            </p:extLst>
          </p:nvPr>
        </p:nvGraphicFramePr>
        <p:xfrm>
          <a:off x="1698610" y="2779034"/>
          <a:ext cx="8855740" cy="3124280"/>
        </p:xfrm>
        <a:graphic>
          <a:graphicData uri="http://schemas.openxmlformats.org/drawingml/2006/table">
            <a:tbl>
              <a:tblPr firstRow="1" bandRow="1">
                <a:tableStyleId>{5C22544A-7EE6-4342-B048-85BDC9FD1C3A}</a:tableStyleId>
              </a:tblPr>
              <a:tblGrid>
                <a:gridCol w="2213935">
                  <a:extLst>
                    <a:ext uri="{9D8B030D-6E8A-4147-A177-3AD203B41FA5}">
                      <a16:colId xmlns:a16="http://schemas.microsoft.com/office/drawing/2014/main" val="2896110365"/>
                    </a:ext>
                  </a:extLst>
                </a:gridCol>
                <a:gridCol w="2213935">
                  <a:extLst>
                    <a:ext uri="{9D8B030D-6E8A-4147-A177-3AD203B41FA5}">
                      <a16:colId xmlns:a16="http://schemas.microsoft.com/office/drawing/2014/main" val="2068076415"/>
                    </a:ext>
                  </a:extLst>
                </a:gridCol>
                <a:gridCol w="2533153">
                  <a:extLst>
                    <a:ext uri="{9D8B030D-6E8A-4147-A177-3AD203B41FA5}">
                      <a16:colId xmlns:a16="http://schemas.microsoft.com/office/drawing/2014/main" val="2924287228"/>
                    </a:ext>
                  </a:extLst>
                </a:gridCol>
                <a:gridCol w="1894717">
                  <a:extLst>
                    <a:ext uri="{9D8B030D-6E8A-4147-A177-3AD203B41FA5}">
                      <a16:colId xmlns:a16="http://schemas.microsoft.com/office/drawing/2014/main" val="2141612894"/>
                    </a:ext>
                  </a:extLst>
                </a:gridCol>
              </a:tblGrid>
              <a:tr h="801750">
                <a:tc>
                  <a:txBody>
                    <a:bodyPr/>
                    <a:lstStyle/>
                    <a:p>
                      <a:pPr algn="ctr"/>
                      <a:r>
                        <a:rPr lang="en-US" dirty="0"/>
                        <a:t>Algorithm</a:t>
                      </a:r>
                      <a:endParaRPr lang="en-IN" dirty="0"/>
                    </a:p>
                  </a:txBody>
                  <a:tcPr anchor="ctr"/>
                </a:tc>
                <a:tc>
                  <a:txBody>
                    <a:bodyPr/>
                    <a:lstStyle/>
                    <a:p>
                      <a:pPr algn="ctr"/>
                      <a:r>
                        <a:rPr lang="en-US" dirty="0"/>
                        <a:t>Computational Efficiency</a:t>
                      </a:r>
                      <a:endParaRPr lang="en-IN" dirty="0"/>
                    </a:p>
                  </a:txBody>
                  <a:tcPr anchor="ctr"/>
                </a:tc>
                <a:tc>
                  <a:txBody>
                    <a:bodyPr/>
                    <a:lstStyle/>
                    <a:p>
                      <a:pPr algn="ctr"/>
                      <a:r>
                        <a:rPr lang="en-US" dirty="0"/>
                        <a:t>Security Level</a:t>
                      </a:r>
                      <a:endParaRPr lang="en-IN" dirty="0"/>
                    </a:p>
                  </a:txBody>
                  <a:tcPr anchor="ctr"/>
                </a:tc>
                <a:tc>
                  <a:txBody>
                    <a:bodyPr/>
                    <a:lstStyle/>
                    <a:p>
                      <a:pPr algn="ctr"/>
                      <a:r>
                        <a:rPr lang="en-US" dirty="0"/>
                        <a:t>Resource Usage</a:t>
                      </a:r>
                      <a:endParaRPr lang="en-IN" dirty="0"/>
                    </a:p>
                  </a:txBody>
                  <a:tcPr anchor="ctr"/>
                </a:tc>
                <a:extLst>
                  <a:ext uri="{0D108BD9-81ED-4DB2-BD59-A6C34878D82A}">
                    <a16:rowId xmlns:a16="http://schemas.microsoft.com/office/drawing/2014/main" val="1714531423"/>
                  </a:ext>
                </a:extLst>
              </a:tr>
              <a:tr h="464506">
                <a:tc>
                  <a:txBody>
                    <a:bodyPr/>
                    <a:lstStyle/>
                    <a:p>
                      <a:pPr algn="l"/>
                      <a:r>
                        <a:rPr lang="en-US" dirty="0"/>
                        <a:t>CRYSTALS-KYBER</a:t>
                      </a:r>
                      <a:endParaRPr lang="en-IN" dirty="0"/>
                    </a:p>
                  </a:txBody>
                  <a:tcPr anchor="ctr"/>
                </a:tc>
                <a:tc>
                  <a:txBody>
                    <a:bodyPr/>
                    <a:lstStyle/>
                    <a:p>
                      <a:pPr algn="l"/>
                      <a:r>
                        <a:rPr lang="en-US" dirty="0"/>
                        <a:t>HIGH</a:t>
                      </a:r>
                      <a:endParaRPr lang="en-IN" dirty="0"/>
                    </a:p>
                  </a:txBody>
                  <a:tcPr anchor="ctr"/>
                </a:tc>
                <a:tc>
                  <a:txBody>
                    <a:bodyPr/>
                    <a:lstStyle/>
                    <a:p>
                      <a:pPr algn="l"/>
                      <a:r>
                        <a:rPr lang="en-US" dirty="0"/>
                        <a:t>Equivalent to AES-256</a:t>
                      </a:r>
                      <a:endParaRPr lang="en-IN" dirty="0"/>
                    </a:p>
                  </a:txBody>
                  <a:tcPr anchor="ctr"/>
                </a:tc>
                <a:tc>
                  <a:txBody>
                    <a:bodyPr/>
                    <a:lstStyle/>
                    <a:p>
                      <a:pPr algn="l"/>
                      <a:r>
                        <a:rPr lang="en-US" dirty="0"/>
                        <a:t>Low</a:t>
                      </a:r>
                      <a:endParaRPr lang="en-IN" dirty="0"/>
                    </a:p>
                  </a:txBody>
                  <a:tcPr anchor="ctr"/>
                </a:tc>
                <a:extLst>
                  <a:ext uri="{0D108BD9-81ED-4DB2-BD59-A6C34878D82A}">
                    <a16:rowId xmlns:a16="http://schemas.microsoft.com/office/drawing/2014/main" val="1830254011"/>
                  </a:ext>
                </a:extLst>
              </a:tr>
              <a:tr h="464506">
                <a:tc>
                  <a:txBody>
                    <a:bodyPr/>
                    <a:lstStyle/>
                    <a:p>
                      <a:pPr algn="l"/>
                      <a:r>
                        <a:rPr lang="en-US" dirty="0"/>
                        <a:t>SABER</a:t>
                      </a:r>
                      <a:endParaRPr lang="en-IN" dirty="0"/>
                    </a:p>
                  </a:txBody>
                  <a:tcPr anchor="ctr"/>
                </a:tc>
                <a:tc>
                  <a:txBody>
                    <a:bodyPr/>
                    <a:lstStyle/>
                    <a:p>
                      <a:pPr algn="l"/>
                      <a:r>
                        <a:rPr lang="en-US" dirty="0"/>
                        <a:t>High</a:t>
                      </a:r>
                      <a:endParaRPr lang="en-IN" dirty="0"/>
                    </a:p>
                  </a:txBody>
                  <a:tcPr anchor="ctr"/>
                </a:tc>
                <a:tc>
                  <a:txBody>
                    <a:bodyPr/>
                    <a:lstStyle/>
                    <a:p>
                      <a:pPr algn="l"/>
                      <a:r>
                        <a:rPr lang="en-US" dirty="0"/>
                        <a:t>Equivalent to AES-256</a:t>
                      </a:r>
                      <a:endParaRPr lang="en-IN" dirty="0"/>
                    </a:p>
                  </a:txBody>
                  <a:tcPr anchor="ctr"/>
                </a:tc>
                <a:tc>
                  <a:txBody>
                    <a:bodyPr/>
                    <a:lstStyle/>
                    <a:p>
                      <a:pPr algn="l"/>
                      <a:r>
                        <a:rPr lang="en-US" dirty="0"/>
                        <a:t>Low</a:t>
                      </a:r>
                      <a:endParaRPr lang="en-IN" dirty="0"/>
                    </a:p>
                  </a:txBody>
                  <a:tcPr anchor="ctr"/>
                </a:tc>
                <a:extLst>
                  <a:ext uri="{0D108BD9-81ED-4DB2-BD59-A6C34878D82A}">
                    <a16:rowId xmlns:a16="http://schemas.microsoft.com/office/drawing/2014/main" val="1027844327"/>
                  </a:ext>
                </a:extLst>
              </a:tr>
              <a:tr h="464506">
                <a:tc>
                  <a:txBody>
                    <a:bodyPr/>
                    <a:lstStyle/>
                    <a:p>
                      <a:pPr algn="l"/>
                      <a:r>
                        <a:rPr lang="en-US" dirty="0"/>
                        <a:t>SIKE</a:t>
                      </a:r>
                      <a:endParaRPr lang="en-IN" dirty="0"/>
                    </a:p>
                  </a:txBody>
                  <a:tcPr anchor="ctr"/>
                </a:tc>
                <a:tc>
                  <a:txBody>
                    <a:bodyPr/>
                    <a:lstStyle/>
                    <a:p>
                      <a:pPr algn="l"/>
                      <a:r>
                        <a:rPr lang="en-US" dirty="0"/>
                        <a:t>Low</a:t>
                      </a:r>
                      <a:endParaRPr lang="en-IN" dirty="0"/>
                    </a:p>
                  </a:txBody>
                  <a:tcPr anchor="ctr"/>
                </a:tc>
                <a:tc>
                  <a:txBody>
                    <a:bodyPr/>
                    <a:lstStyle/>
                    <a:p>
                      <a:pPr algn="l"/>
                      <a:r>
                        <a:rPr lang="en-US" dirty="0"/>
                        <a:t>Equivalent to AES-256</a:t>
                      </a:r>
                      <a:endParaRPr lang="en-IN" dirty="0"/>
                    </a:p>
                  </a:txBody>
                  <a:tcPr anchor="ctr"/>
                </a:tc>
                <a:tc>
                  <a:txBody>
                    <a:bodyPr/>
                    <a:lstStyle/>
                    <a:p>
                      <a:pPr algn="l"/>
                      <a:r>
                        <a:rPr lang="en-US" dirty="0"/>
                        <a:t>High</a:t>
                      </a:r>
                      <a:endParaRPr lang="en-IN" dirty="0"/>
                    </a:p>
                  </a:txBody>
                  <a:tcPr anchor="ctr"/>
                </a:tc>
                <a:extLst>
                  <a:ext uri="{0D108BD9-81ED-4DB2-BD59-A6C34878D82A}">
                    <a16:rowId xmlns:a16="http://schemas.microsoft.com/office/drawing/2014/main" val="1925752388"/>
                  </a:ext>
                </a:extLst>
              </a:tr>
              <a:tr h="464506">
                <a:tc>
                  <a:txBody>
                    <a:bodyPr/>
                    <a:lstStyle/>
                    <a:p>
                      <a:pPr algn="l"/>
                      <a:r>
                        <a:rPr lang="en-US" dirty="0"/>
                        <a:t>Classic </a:t>
                      </a:r>
                      <a:r>
                        <a:rPr lang="en-US" dirty="0" err="1"/>
                        <a:t>McEliece</a:t>
                      </a:r>
                      <a:endParaRPr lang="en-IN" dirty="0"/>
                    </a:p>
                  </a:txBody>
                  <a:tcPr anchor="ctr"/>
                </a:tc>
                <a:tc>
                  <a:txBody>
                    <a:bodyPr/>
                    <a:lstStyle/>
                    <a:p>
                      <a:pPr algn="l"/>
                      <a:r>
                        <a:rPr lang="en-US" dirty="0"/>
                        <a:t>Low</a:t>
                      </a:r>
                      <a:endParaRPr lang="en-IN" dirty="0"/>
                    </a:p>
                  </a:txBody>
                  <a:tcPr anchor="ctr"/>
                </a:tc>
                <a:tc>
                  <a:txBody>
                    <a:bodyPr/>
                    <a:lstStyle/>
                    <a:p>
                      <a:pPr algn="l"/>
                      <a:r>
                        <a:rPr lang="en-US" dirty="0"/>
                        <a:t>Very High</a:t>
                      </a:r>
                      <a:endParaRPr lang="en-IN" dirty="0"/>
                    </a:p>
                  </a:txBody>
                  <a:tcPr anchor="ctr"/>
                </a:tc>
                <a:tc>
                  <a:txBody>
                    <a:bodyPr/>
                    <a:lstStyle/>
                    <a:p>
                      <a:pPr algn="l"/>
                      <a:r>
                        <a:rPr lang="en-US" dirty="0"/>
                        <a:t>Very High</a:t>
                      </a:r>
                      <a:endParaRPr lang="en-IN" dirty="0"/>
                    </a:p>
                  </a:txBody>
                  <a:tcPr anchor="ctr"/>
                </a:tc>
                <a:extLst>
                  <a:ext uri="{0D108BD9-81ED-4DB2-BD59-A6C34878D82A}">
                    <a16:rowId xmlns:a16="http://schemas.microsoft.com/office/drawing/2014/main" val="2002712099"/>
                  </a:ext>
                </a:extLst>
              </a:tr>
              <a:tr h="464506">
                <a:tc>
                  <a:txBody>
                    <a:bodyPr/>
                    <a:lstStyle/>
                    <a:p>
                      <a:pPr algn="l"/>
                      <a:r>
                        <a:rPr lang="en-US" dirty="0"/>
                        <a:t>NTRU</a:t>
                      </a:r>
                      <a:endParaRPr lang="en-IN" dirty="0"/>
                    </a:p>
                  </a:txBody>
                  <a:tcPr anchor="ctr"/>
                </a:tc>
                <a:tc>
                  <a:txBody>
                    <a:bodyPr/>
                    <a:lstStyle/>
                    <a:p>
                      <a:pPr algn="l"/>
                      <a:r>
                        <a:rPr lang="en-US" dirty="0"/>
                        <a:t>High</a:t>
                      </a:r>
                      <a:endParaRPr lang="en-IN" dirty="0"/>
                    </a:p>
                  </a:txBody>
                  <a:tcPr anchor="ctr"/>
                </a:tc>
                <a:tc>
                  <a:txBody>
                    <a:bodyPr/>
                    <a:lstStyle/>
                    <a:p>
                      <a:pPr algn="l"/>
                      <a:r>
                        <a:rPr lang="en-US" dirty="0"/>
                        <a:t>Equivalent to AES-256</a:t>
                      </a:r>
                      <a:endParaRPr lang="en-IN" dirty="0"/>
                    </a:p>
                  </a:txBody>
                  <a:tcPr anchor="ctr"/>
                </a:tc>
                <a:tc>
                  <a:txBody>
                    <a:bodyPr/>
                    <a:lstStyle/>
                    <a:p>
                      <a:pPr algn="l"/>
                      <a:r>
                        <a:rPr lang="en-US" dirty="0"/>
                        <a:t>Medium</a:t>
                      </a:r>
                      <a:endParaRPr lang="en-IN" dirty="0"/>
                    </a:p>
                  </a:txBody>
                  <a:tcPr anchor="ctr"/>
                </a:tc>
                <a:extLst>
                  <a:ext uri="{0D108BD9-81ED-4DB2-BD59-A6C34878D82A}">
                    <a16:rowId xmlns:a16="http://schemas.microsoft.com/office/drawing/2014/main" val="972820223"/>
                  </a:ext>
                </a:extLst>
              </a:tr>
            </a:tbl>
          </a:graphicData>
        </a:graphic>
      </p:graphicFrame>
    </p:spTree>
    <p:extLst>
      <p:ext uri="{BB962C8B-B14F-4D97-AF65-F5344CB8AC3E}">
        <p14:creationId xmlns:p14="http://schemas.microsoft.com/office/powerpoint/2010/main" val="1958372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6CEE4-DCBB-6200-0939-373EF4B0B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345D1-3E16-39EB-DB8B-C8FB163AB69A}"/>
              </a:ext>
            </a:extLst>
          </p:cNvPr>
          <p:cNvSpPr>
            <a:spLocks noGrp="1"/>
          </p:cNvSpPr>
          <p:nvPr>
            <p:ph type="title"/>
          </p:nvPr>
        </p:nvSpPr>
        <p:spPr/>
        <p:txBody>
          <a:bodyPr/>
          <a:lstStyle/>
          <a:p>
            <a:r>
              <a:rPr lang="en-US" b="1" dirty="0"/>
              <a:t>Comparison of Algorithms</a:t>
            </a:r>
            <a:endParaRPr lang="en-IN" b="1" dirty="0"/>
          </a:p>
        </p:txBody>
      </p:sp>
      <p:sp>
        <p:nvSpPr>
          <p:cNvPr id="3" name="Content Placeholder 2">
            <a:extLst>
              <a:ext uri="{FF2B5EF4-FFF2-40B4-BE49-F238E27FC236}">
                <a16:creationId xmlns:a16="http://schemas.microsoft.com/office/drawing/2014/main" id="{23F214D0-7D5A-96E1-276A-3D27515AB1A8}"/>
              </a:ext>
            </a:extLst>
          </p:cNvPr>
          <p:cNvSpPr>
            <a:spLocks noGrp="1"/>
          </p:cNvSpPr>
          <p:nvPr>
            <p:ph sz="half" idx="1"/>
          </p:nvPr>
        </p:nvSpPr>
        <p:spPr/>
        <p:txBody>
          <a:bodyPr/>
          <a:lstStyle/>
          <a:p>
            <a:r>
              <a:rPr lang="en-US" sz="2800" dirty="0"/>
              <a:t>Focused on Digital Signatures</a:t>
            </a:r>
          </a:p>
          <a:p>
            <a:endParaRPr lang="en-US" sz="2800" b="1" dirty="0"/>
          </a:p>
          <a:p>
            <a:endParaRPr lang="en-IN" dirty="0"/>
          </a:p>
        </p:txBody>
      </p:sp>
      <p:graphicFrame>
        <p:nvGraphicFramePr>
          <p:cNvPr id="5" name="Table 4">
            <a:extLst>
              <a:ext uri="{FF2B5EF4-FFF2-40B4-BE49-F238E27FC236}">
                <a16:creationId xmlns:a16="http://schemas.microsoft.com/office/drawing/2014/main" id="{C7F4B594-1BCF-D7B9-CCD0-E94AD845D7F9}"/>
              </a:ext>
            </a:extLst>
          </p:cNvPr>
          <p:cNvGraphicFramePr>
            <a:graphicFrameLocks noGrp="1"/>
          </p:cNvGraphicFramePr>
          <p:nvPr>
            <p:extLst>
              <p:ext uri="{D42A27DB-BD31-4B8C-83A1-F6EECF244321}">
                <p14:modId xmlns:p14="http://schemas.microsoft.com/office/powerpoint/2010/main" val="3957846445"/>
              </p:ext>
            </p:extLst>
          </p:nvPr>
        </p:nvGraphicFramePr>
        <p:xfrm>
          <a:off x="1471428" y="2553508"/>
          <a:ext cx="8874053" cy="2560320"/>
        </p:xfrm>
        <a:graphic>
          <a:graphicData uri="http://schemas.openxmlformats.org/drawingml/2006/table">
            <a:tbl>
              <a:tblPr firstRow="1" bandRow="1">
                <a:tableStyleId>{5C22544A-7EE6-4342-B048-85BDC9FD1C3A}</a:tableStyleId>
              </a:tblPr>
              <a:tblGrid>
                <a:gridCol w="2218514">
                  <a:extLst>
                    <a:ext uri="{9D8B030D-6E8A-4147-A177-3AD203B41FA5}">
                      <a16:colId xmlns:a16="http://schemas.microsoft.com/office/drawing/2014/main" val="2896110365"/>
                    </a:ext>
                  </a:extLst>
                </a:gridCol>
                <a:gridCol w="1847863">
                  <a:extLst>
                    <a:ext uri="{9D8B030D-6E8A-4147-A177-3AD203B41FA5}">
                      <a16:colId xmlns:a16="http://schemas.microsoft.com/office/drawing/2014/main" val="2068076415"/>
                    </a:ext>
                  </a:extLst>
                </a:gridCol>
                <a:gridCol w="2264703">
                  <a:extLst>
                    <a:ext uri="{9D8B030D-6E8A-4147-A177-3AD203B41FA5}">
                      <a16:colId xmlns:a16="http://schemas.microsoft.com/office/drawing/2014/main" val="2924287228"/>
                    </a:ext>
                  </a:extLst>
                </a:gridCol>
                <a:gridCol w="2542973">
                  <a:extLst>
                    <a:ext uri="{9D8B030D-6E8A-4147-A177-3AD203B41FA5}">
                      <a16:colId xmlns:a16="http://schemas.microsoft.com/office/drawing/2014/main" val="2141612894"/>
                    </a:ext>
                  </a:extLst>
                </a:gridCol>
              </a:tblGrid>
              <a:tr h="535711">
                <a:tc>
                  <a:txBody>
                    <a:bodyPr/>
                    <a:lstStyle/>
                    <a:p>
                      <a:pPr algn="ctr"/>
                      <a:r>
                        <a:rPr lang="en-US" dirty="0"/>
                        <a:t>Algorithm</a:t>
                      </a:r>
                      <a:endParaRPr lang="en-IN" dirty="0"/>
                    </a:p>
                  </a:txBody>
                  <a:tcPr anchor="ctr"/>
                </a:tc>
                <a:tc>
                  <a:txBody>
                    <a:bodyPr/>
                    <a:lstStyle/>
                    <a:p>
                      <a:pPr algn="ctr"/>
                      <a:r>
                        <a:rPr lang="en-US" dirty="0"/>
                        <a:t>Computational Efficiency</a:t>
                      </a:r>
                      <a:endParaRPr lang="en-IN" dirty="0"/>
                    </a:p>
                  </a:txBody>
                  <a:tcPr anchor="ctr"/>
                </a:tc>
                <a:tc>
                  <a:txBody>
                    <a:bodyPr/>
                    <a:lstStyle/>
                    <a:p>
                      <a:pPr algn="ctr"/>
                      <a:r>
                        <a:rPr lang="en-US" dirty="0"/>
                        <a:t>Security Level</a:t>
                      </a:r>
                      <a:endParaRPr lang="en-IN" dirty="0"/>
                    </a:p>
                  </a:txBody>
                  <a:tcPr anchor="ctr"/>
                </a:tc>
                <a:tc>
                  <a:txBody>
                    <a:bodyPr/>
                    <a:lstStyle/>
                    <a:p>
                      <a:pPr algn="ctr"/>
                      <a:r>
                        <a:rPr lang="en-US" dirty="0"/>
                        <a:t>Resource Usage</a:t>
                      </a:r>
                      <a:endParaRPr lang="en-IN" dirty="0"/>
                    </a:p>
                  </a:txBody>
                  <a:tcPr anchor="ctr"/>
                </a:tc>
                <a:extLst>
                  <a:ext uri="{0D108BD9-81ED-4DB2-BD59-A6C34878D82A}">
                    <a16:rowId xmlns:a16="http://schemas.microsoft.com/office/drawing/2014/main" val="1714531423"/>
                  </a:ext>
                </a:extLst>
              </a:tr>
              <a:tr h="628939">
                <a:tc>
                  <a:txBody>
                    <a:bodyPr/>
                    <a:lstStyle/>
                    <a:p>
                      <a:r>
                        <a:rPr lang="en-US" dirty="0"/>
                        <a:t>SPHINCS+</a:t>
                      </a:r>
                      <a:endParaRPr lang="en-IN" dirty="0"/>
                    </a:p>
                  </a:txBody>
                  <a:tcPr anchor="ctr"/>
                </a:tc>
                <a:tc>
                  <a:txBody>
                    <a:bodyPr/>
                    <a:lstStyle/>
                    <a:p>
                      <a:r>
                        <a:rPr lang="en-US" dirty="0"/>
                        <a:t>Moderate</a:t>
                      </a:r>
                      <a:endParaRPr lang="en-IN"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Equivalent to AES-256</a:t>
                      </a:r>
                      <a:endParaRPr lang="en-IN" dirty="0"/>
                    </a:p>
                    <a:p>
                      <a:endParaRPr lang="en-IN" dirty="0"/>
                    </a:p>
                  </a:txBody>
                  <a:tcPr anchor="ctr"/>
                </a:tc>
                <a:tc>
                  <a:txBody>
                    <a:bodyPr/>
                    <a:lstStyle/>
                    <a:p>
                      <a:r>
                        <a:rPr lang="en-US" dirty="0"/>
                        <a:t>Low-Medium</a:t>
                      </a:r>
                      <a:endParaRPr lang="en-IN" dirty="0"/>
                    </a:p>
                  </a:txBody>
                  <a:tcPr anchor="ctr"/>
                </a:tc>
                <a:extLst>
                  <a:ext uri="{0D108BD9-81ED-4DB2-BD59-A6C34878D82A}">
                    <a16:rowId xmlns:a16="http://schemas.microsoft.com/office/drawing/2014/main" val="1830254011"/>
                  </a:ext>
                </a:extLst>
              </a:tr>
              <a:tr h="628939">
                <a:tc>
                  <a:txBody>
                    <a:bodyPr/>
                    <a:lstStyle/>
                    <a:p>
                      <a:r>
                        <a:rPr lang="en-US" dirty="0"/>
                        <a:t>CRYSTAL-DILITHIUM</a:t>
                      </a:r>
                      <a:endParaRPr lang="en-IN" dirty="0"/>
                    </a:p>
                  </a:txBody>
                  <a:tcPr anchor="ctr"/>
                </a:tc>
                <a:tc>
                  <a:txBody>
                    <a:bodyPr/>
                    <a:lstStyle/>
                    <a:p>
                      <a:r>
                        <a:rPr lang="en-US" dirty="0"/>
                        <a:t>High</a:t>
                      </a:r>
                      <a:endParaRPr lang="en-IN"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Equivalent to AES-256</a:t>
                      </a:r>
                      <a:endParaRPr lang="en-IN" dirty="0"/>
                    </a:p>
                    <a:p>
                      <a:endParaRPr lang="en-IN" dirty="0"/>
                    </a:p>
                  </a:txBody>
                  <a:tcPr anchor="ctr"/>
                </a:tc>
                <a:tc>
                  <a:txBody>
                    <a:bodyPr/>
                    <a:lstStyle/>
                    <a:p>
                      <a:r>
                        <a:rPr lang="en-US" dirty="0"/>
                        <a:t>Low</a:t>
                      </a:r>
                      <a:endParaRPr lang="en-IN" dirty="0"/>
                    </a:p>
                  </a:txBody>
                  <a:tcPr anchor="ctr"/>
                </a:tc>
                <a:extLst>
                  <a:ext uri="{0D108BD9-81ED-4DB2-BD59-A6C34878D82A}">
                    <a16:rowId xmlns:a16="http://schemas.microsoft.com/office/drawing/2014/main" val="1027844327"/>
                  </a:ext>
                </a:extLst>
              </a:tr>
              <a:tr h="628939">
                <a:tc>
                  <a:txBody>
                    <a:bodyPr/>
                    <a:lstStyle/>
                    <a:p>
                      <a:r>
                        <a:rPr lang="en-US" dirty="0"/>
                        <a:t>FALCON</a:t>
                      </a:r>
                      <a:endParaRPr lang="en-IN" dirty="0"/>
                    </a:p>
                  </a:txBody>
                  <a:tcPr anchor="ctr"/>
                </a:tc>
                <a:tc>
                  <a:txBody>
                    <a:bodyPr/>
                    <a:lstStyle/>
                    <a:p>
                      <a:r>
                        <a:rPr lang="en-US" dirty="0"/>
                        <a:t>Moderate</a:t>
                      </a:r>
                      <a:endParaRPr lang="en-IN"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Equivalent to AES-256</a:t>
                      </a:r>
                      <a:endParaRPr lang="en-IN" dirty="0"/>
                    </a:p>
                    <a:p>
                      <a:endParaRPr lang="en-IN" dirty="0"/>
                    </a:p>
                  </a:txBody>
                  <a:tcPr anchor="ctr"/>
                </a:tc>
                <a:tc>
                  <a:txBody>
                    <a:bodyPr/>
                    <a:lstStyle/>
                    <a:p>
                      <a:r>
                        <a:rPr lang="en-US" dirty="0"/>
                        <a:t>Low</a:t>
                      </a:r>
                      <a:endParaRPr lang="en-IN" dirty="0"/>
                    </a:p>
                  </a:txBody>
                  <a:tcPr anchor="ctr"/>
                </a:tc>
                <a:extLst>
                  <a:ext uri="{0D108BD9-81ED-4DB2-BD59-A6C34878D82A}">
                    <a16:rowId xmlns:a16="http://schemas.microsoft.com/office/drawing/2014/main" val="1925752388"/>
                  </a:ext>
                </a:extLst>
              </a:tr>
            </a:tbl>
          </a:graphicData>
        </a:graphic>
      </p:graphicFrame>
    </p:spTree>
    <p:extLst>
      <p:ext uri="{BB962C8B-B14F-4D97-AF65-F5344CB8AC3E}">
        <p14:creationId xmlns:p14="http://schemas.microsoft.com/office/powerpoint/2010/main" val="1658579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47C6F-9344-DCAA-86E0-891ADFFB238F}"/>
              </a:ext>
            </a:extLst>
          </p:cNvPr>
          <p:cNvSpPr>
            <a:spLocks noGrp="1"/>
          </p:cNvSpPr>
          <p:nvPr>
            <p:ph type="title"/>
          </p:nvPr>
        </p:nvSpPr>
        <p:spPr/>
        <p:txBody>
          <a:bodyPr/>
          <a:lstStyle/>
          <a:p>
            <a:r>
              <a:rPr lang="en-US" b="1" dirty="0"/>
              <a:t>Selected Algorithms</a:t>
            </a:r>
            <a:endParaRPr lang="en-IN" b="1" dirty="0"/>
          </a:p>
        </p:txBody>
      </p:sp>
      <p:sp>
        <p:nvSpPr>
          <p:cNvPr id="3" name="Content Placeholder 2">
            <a:extLst>
              <a:ext uri="{FF2B5EF4-FFF2-40B4-BE49-F238E27FC236}">
                <a16:creationId xmlns:a16="http://schemas.microsoft.com/office/drawing/2014/main" id="{6B188810-4264-F497-96AF-0F9087321B43}"/>
              </a:ext>
            </a:extLst>
          </p:cNvPr>
          <p:cNvSpPr>
            <a:spLocks noGrp="1"/>
          </p:cNvSpPr>
          <p:nvPr>
            <p:ph sz="half" idx="1"/>
          </p:nvPr>
        </p:nvSpPr>
        <p:spPr/>
        <p:txBody>
          <a:bodyPr>
            <a:normAutofit/>
          </a:bodyPr>
          <a:lstStyle/>
          <a:p>
            <a:pPr algn="ctr"/>
            <a:r>
              <a:rPr lang="en-US" sz="2400" b="1" dirty="0"/>
              <a:t>CRYSTALS-KYBER</a:t>
            </a:r>
            <a:endParaRPr lang="en-US" sz="2400" dirty="0"/>
          </a:p>
          <a:p>
            <a:pPr>
              <a:buFont typeface="Arial" panose="020B0604020202020204" pitchFamily="34" charset="0"/>
              <a:buChar char="•"/>
            </a:pPr>
            <a:r>
              <a:rPr lang="en-US" sz="2400" b="1" dirty="0"/>
              <a:t>Purpose: </a:t>
            </a:r>
            <a:r>
              <a:rPr lang="en-US" sz="2400" dirty="0"/>
              <a:t>Key Encapsulation Mechanism (KEM).</a:t>
            </a:r>
          </a:p>
          <a:p>
            <a:pPr>
              <a:buFont typeface="Arial" panose="020B0604020202020204" pitchFamily="34" charset="0"/>
              <a:buChar char="•"/>
            </a:pPr>
            <a:r>
              <a:rPr lang="en-US" sz="2400" b="1" dirty="0"/>
              <a:t>Features: </a:t>
            </a:r>
            <a:r>
              <a:rPr lang="en-US" sz="2400" dirty="0"/>
              <a:t>High security with minimal latency; supports scalable security levels.</a:t>
            </a:r>
          </a:p>
          <a:p>
            <a:pPr>
              <a:buFont typeface="Arial" panose="020B0604020202020204" pitchFamily="34" charset="0"/>
              <a:buChar char="•"/>
            </a:pPr>
            <a:r>
              <a:rPr lang="en-US" sz="2400" b="1" dirty="0"/>
              <a:t>Justification: </a:t>
            </a:r>
            <a:r>
              <a:rPr lang="en-US" sz="2400" dirty="0"/>
              <a:t>Proven efficiency for lightweight applications, compatible with EN-LAKP requirements.</a:t>
            </a:r>
          </a:p>
          <a:p>
            <a:endParaRPr lang="en-IN" sz="2400" dirty="0"/>
          </a:p>
        </p:txBody>
      </p:sp>
      <p:sp>
        <p:nvSpPr>
          <p:cNvPr id="4" name="Content Placeholder 3">
            <a:extLst>
              <a:ext uri="{FF2B5EF4-FFF2-40B4-BE49-F238E27FC236}">
                <a16:creationId xmlns:a16="http://schemas.microsoft.com/office/drawing/2014/main" id="{15EB9BF2-880C-99DC-3866-741AEE98E0A1}"/>
              </a:ext>
            </a:extLst>
          </p:cNvPr>
          <p:cNvSpPr>
            <a:spLocks noGrp="1"/>
          </p:cNvSpPr>
          <p:nvPr>
            <p:ph sz="half" idx="2"/>
          </p:nvPr>
        </p:nvSpPr>
        <p:spPr/>
        <p:txBody>
          <a:bodyPr>
            <a:normAutofit/>
          </a:bodyPr>
          <a:lstStyle/>
          <a:p>
            <a:pPr algn="ctr"/>
            <a:r>
              <a:rPr lang="en-US" sz="2400" b="1" dirty="0"/>
              <a:t>SPHINCS+</a:t>
            </a:r>
            <a:endParaRPr lang="en-US" sz="2400" dirty="0"/>
          </a:p>
          <a:p>
            <a:pPr>
              <a:buFont typeface="Arial" panose="020B0604020202020204" pitchFamily="34" charset="0"/>
              <a:buChar char="•"/>
            </a:pPr>
            <a:r>
              <a:rPr lang="en-US" sz="2400" b="1" dirty="0"/>
              <a:t>Purpose: </a:t>
            </a:r>
            <a:r>
              <a:rPr lang="en-US" sz="2400" dirty="0"/>
              <a:t>Secure Hash-Based Digital Signatures.</a:t>
            </a:r>
          </a:p>
          <a:p>
            <a:pPr>
              <a:buFont typeface="Arial" panose="020B0604020202020204" pitchFamily="34" charset="0"/>
              <a:buChar char="•"/>
            </a:pPr>
            <a:r>
              <a:rPr lang="en-US" sz="2400" b="1" dirty="0"/>
              <a:t>Features:</a:t>
            </a:r>
            <a:r>
              <a:rPr lang="en-US" sz="2400" dirty="0"/>
              <a:t> Quantum-safe, stateless, and strong resistance to attacks.</a:t>
            </a:r>
          </a:p>
          <a:p>
            <a:pPr>
              <a:buFont typeface="Arial" panose="020B0604020202020204" pitchFamily="34" charset="0"/>
              <a:buChar char="•"/>
            </a:pPr>
            <a:r>
              <a:rPr lang="en-US" sz="2400" b="1" dirty="0"/>
              <a:t>Justification: </a:t>
            </a:r>
            <a:r>
              <a:rPr lang="en-US" sz="2400" dirty="0"/>
              <a:t>Lightweight signature scheme suitable for authentication within EN-LAKP.</a:t>
            </a:r>
          </a:p>
          <a:p>
            <a:endParaRPr lang="en-IN" sz="2400" dirty="0"/>
          </a:p>
        </p:txBody>
      </p:sp>
    </p:spTree>
    <p:extLst>
      <p:ext uri="{BB962C8B-B14F-4D97-AF65-F5344CB8AC3E}">
        <p14:creationId xmlns:p14="http://schemas.microsoft.com/office/powerpoint/2010/main" val="4073267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C16B-E10D-E050-3EF0-D95E90421042}"/>
              </a:ext>
            </a:extLst>
          </p:cNvPr>
          <p:cNvSpPr>
            <a:spLocks noGrp="1"/>
          </p:cNvSpPr>
          <p:nvPr>
            <p:ph type="title"/>
          </p:nvPr>
        </p:nvSpPr>
        <p:spPr/>
        <p:txBody>
          <a:bodyPr/>
          <a:lstStyle/>
          <a:p>
            <a:r>
              <a:rPr lang="en-US" b="1" dirty="0"/>
              <a:t>CRYSTAL-KYBER Working</a:t>
            </a:r>
            <a:endParaRPr lang="en-IN" b="1" dirty="0"/>
          </a:p>
        </p:txBody>
      </p:sp>
      <p:sp>
        <p:nvSpPr>
          <p:cNvPr id="3" name="Content Placeholder 2">
            <a:extLst>
              <a:ext uri="{FF2B5EF4-FFF2-40B4-BE49-F238E27FC236}">
                <a16:creationId xmlns:a16="http://schemas.microsoft.com/office/drawing/2014/main" id="{EFDFEF5E-52B9-5DA3-780C-4E3C0A4C7FE5}"/>
              </a:ext>
            </a:extLst>
          </p:cNvPr>
          <p:cNvSpPr>
            <a:spLocks noGrp="1"/>
          </p:cNvSpPr>
          <p:nvPr>
            <p:ph idx="1"/>
          </p:nvPr>
        </p:nvSpPr>
        <p:spPr>
          <a:xfrm>
            <a:off x="1097280" y="1845733"/>
            <a:ext cx="10058400" cy="4608229"/>
          </a:xfrm>
        </p:spPr>
        <p:txBody>
          <a:bodyPr>
            <a:noAutofit/>
          </a:bodyPr>
          <a:lstStyle/>
          <a:p>
            <a:r>
              <a:rPr lang="en-US" b="1" dirty="0"/>
              <a:t>Purpose</a:t>
            </a:r>
            <a:r>
              <a:rPr lang="en-US" dirty="0"/>
              <a:t>: Public-key encryption and key encapsulation (used for secure key exchange). </a:t>
            </a:r>
          </a:p>
          <a:p>
            <a:r>
              <a:rPr lang="en-US" b="1" dirty="0"/>
              <a:t>Steps:</a:t>
            </a:r>
          </a:p>
          <a:p>
            <a:pPr>
              <a:buFont typeface="+mj-lt"/>
              <a:buAutoNum type="arabicPeriod"/>
            </a:pPr>
            <a:r>
              <a:rPr lang="en-US" b="1" dirty="0"/>
              <a:t>Key Generation</a:t>
            </a:r>
            <a:r>
              <a:rPr lang="en-US" dirty="0"/>
              <a:t>:</a:t>
            </a:r>
          </a:p>
          <a:p>
            <a:pPr marL="742950" lvl="1" indent="-285750">
              <a:buFont typeface="+mj-lt"/>
              <a:buAutoNum type="arabicPeriod"/>
            </a:pPr>
            <a:r>
              <a:rPr lang="en-US" sz="2000" dirty="0"/>
              <a:t>A user generates a public-private key pair.</a:t>
            </a:r>
          </a:p>
          <a:p>
            <a:pPr marL="742950" lvl="1" indent="-285750">
              <a:buFont typeface="+mj-lt"/>
              <a:buAutoNum type="arabicPeriod"/>
            </a:pPr>
            <a:r>
              <a:rPr lang="en-US" sz="2000" dirty="0"/>
              <a:t>The public key is shared, while the private key is kept secret.</a:t>
            </a:r>
          </a:p>
          <a:p>
            <a:pPr>
              <a:buFont typeface="+mj-lt"/>
              <a:buAutoNum type="arabicPeriod"/>
            </a:pPr>
            <a:r>
              <a:rPr lang="en-US" b="1" dirty="0"/>
              <a:t>Encryption</a:t>
            </a:r>
            <a:r>
              <a:rPr lang="en-US" dirty="0"/>
              <a:t>:</a:t>
            </a:r>
          </a:p>
          <a:p>
            <a:pPr marL="742950" lvl="1" indent="-285750">
              <a:buFont typeface="+mj-lt"/>
              <a:buAutoNum type="arabicPeriod"/>
            </a:pPr>
            <a:r>
              <a:rPr lang="en-US" sz="2000" dirty="0"/>
              <a:t>A sender uses the recipient’s public key to encrypt a message or generate a shared secret.</a:t>
            </a:r>
          </a:p>
          <a:p>
            <a:pPr marL="742950" lvl="1" indent="-285750">
              <a:buFont typeface="+mj-lt"/>
              <a:buAutoNum type="arabicPeriod"/>
            </a:pPr>
            <a:r>
              <a:rPr lang="en-US" sz="2000" dirty="0"/>
              <a:t>This involves adding "errors" to the ciphertext, making it difficult for an attacker to recover the original data.</a:t>
            </a:r>
          </a:p>
          <a:p>
            <a:pPr>
              <a:buFont typeface="+mj-lt"/>
              <a:buAutoNum type="arabicPeriod"/>
            </a:pPr>
            <a:r>
              <a:rPr lang="en-US" b="1" dirty="0"/>
              <a:t>Decryption</a:t>
            </a:r>
            <a:r>
              <a:rPr lang="en-US" dirty="0"/>
              <a:t>:</a:t>
            </a:r>
          </a:p>
          <a:p>
            <a:pPr marL="742950" lvl="1" indent="-285750">
              <a:buFont typeface="+mj-lt"/>
              <a:buAutoNum type="arabicPeriod"/>
            </a:pPr>
            <a:r>
              <a:rPr lang="en-US" sz="2000" dirty="0"/>
              <a:t>The recipient uses their private key to decrypt the message or retrieve the shared secret.</a:t>
            </a:r>
          </a:p>
          <a:p>
            <a:pPr marL="742950" lvl="1" indent="-285750">
              <a:buFont typeface="+mj-lt"/>
              <a:buAutoNum type="arabicPeriod"/>
            </a:pPr>
            <a:r>
              <a:rPr lang="en-US" sz="2000" dirty="0"/>
              <a:t>The private key allows them to efficiently remove the added "errors."</a:t>
            </a:r>
          </a:p>
          <a:p>
            <a:endParaRPr lang="en-IN" dirty="0"/>
          </a:p>
        </p:txBody>
      </p:sp>
    </p:spTree>
    <p:extLst>
      <p:ext uri="{BB962C8B-B14F-4D97-AF65-F5344CB8AC3E}">
        <p14:creationId xmlns:p14="http://schemas.microsoft.com/office/powerpoint/2010/main" val="2137972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49608-80FA-0FC5-FAB1-EAD3E91F5463}"/>
              </a:ext>
            </a:extLst>
          </p:cNvPr>
          <p:cNvSpPr>
            <a:spLocks noGrp="1"/>
          </p:cNvSpPr>
          <p:nvPr>
            <p:ph type="title"/>
          </p:nvPr>
        </p:nvSpPr>
        <p:spPr/>
        <p:txBody>
          <a:bodyPr/>
          <a:lstStyle/>
          <a:p>
            <a:r>
              <a:rPr lang="en-US" b="1" dirty="0"/>
              <a:t>SPHINCS+ Working</a:t>
            </a:r>
            <a:endParaRPr lang="en-IN" b="1" dirty="0"/>
          </a:p>
        </p:txBody>
      </p:sp>
      <p:sp>
        <p:nvSpPr>
          <p:cNvPr id="3" name="Content Placeholder 2">
            <a:extLst>
              <a:ext uri="{FF2B5EF4-FFF2-40B4-BE49-F238E27FC236}">
                <a16:creationId xmlns:a16="http://schemas.microsoft.com/office/drawing/2014/main" id="{98CACA69-8A26-7240-0718-5D8ECC5E88CC}"/>
              </a:ext>
            </a:extLst>
          </p:cNvPr>
          <p:cNvSpPr>
            <a:spLocks noGrp="1"/>
          </p:cNvSpPr>
          <p:nvPr>
            <p:ph idx="1"/>
          </p:nvPr>
        </p:nvSpPr>
        <p:spPr>
          <a:xfrm>
            <a:off x="370722" y="1813836"/>
            <a:ext cx="11821278" cy="4618862"/>
          </a:xfrm>
        </p:spPr>
        <p:txBody>
          <a:bodyPr>
            <a:noAutofit/>
          </a:bodyPr>
          <a:lstStyle/>
          <a:p>
            <a:r>
              <a:rPr lang="en-US" b="1" dirty="0"/>
              <a:t>Purpose</a:t>
            </a:r>
            <a:r>
              <a:rPr lang="en-US" dirty="0"/>
              <a:t>: Digital signatures (used for authentication and data integrity). </a:t>
            </a:r>
          </a:p>
          <a:p>
            <a:r>
              <a:rPr lang="en-US" b="1" dirty="0"/>
              <a:t>Steps:</a:t>
            </a:r>
          </a:p>
          <a:p>
            <a:pPr>
              <a:buFont typeface="+mj-lt"/>
              <a:buAutoNum type="arabicPeriod"/>
            </a:pPr>
            <a:r>
              <a:rPr lang="en-US" b="1" dirty="0"/>
              <a:t>Key Generation</a:t>
            </a:r>
            <a:r>
              <a:rPr lang="en-US" dirty="0"/>
              <a:t>:</a:t>
            </a:r>
          </a:p>
          <a:p>
            <a:pPr marL="742950" lvl="1" indent="-285750">
              <a:buFont typeface="+mj-lt"/>
              <a:buAutoNum type="arabicPeriod"/>
            </a:pPr>
            <a:r>
              <a:rPr lang="en-US" sz="2000" dirty="0"/>
              <a:t>A user generates a public-private key pair.</a:t>
            </a:r>
          </a:p>
          <a:p>
            <a:pPr marL="742950" lvl="1" indent="-285750">
              <a:buFont typeface="+mj-lt"/>
              <a:buAutoNum type="arabicPeriod"/>
            </a:pPr>
            <a:r>
              <a:rPr lang="en-US" sz="2000" dirty="0"/>
              <a:t>The private key is used to create signatures, and the public key is used to verify them.</a:t>
            </a:r>
          </a:p>
          <a:p>
            <a:pPr>
              <a:buFont typeface="+mj-lt"/>
              <a:buAutoNum type="arabicPeriod"/>
            </a:pPr>
            <a:r>
              <a:rPr lang="en-US" b="1" dirty="0"/>
              <a:t>Signature Generation</a:t>
            </a:r>
            <a:r>
              <a:rPr lang="en-US" dirty="0"/>
              <a:t>:</a:t>
            </a:r>
          </a:p>
          <a:p>
            <a:pPr marL="742950" lvl="1" indent="-285750">
              <a:buFont typeface="+mj-lt"/>
              <a:buAutoNum type="arabicPeriod"/>
            </a:pPr>
            <a:r>
              <a:rPr lang="en-US" sz="2000" dirty="0"/>
              <a:t>To sign a message, SPHINCS+ uses a hierarchical structure of hashes.</a:t>
            </a:r>
          </a:p>
          <a:p>
            <a:pPr marL="742950" lvl="1" indent="-285750">
              <a:buFont typeface="+mj-lt"/>
              <a:buAutoNum type="arabicPeriod"/>
            </a:pPr>
            <a:r>
              <a:rPr lang="en-US" sz="2000" dirty="0"/>
              <a:t>The signer selects a specific path within this hash tree, derives a signature, and attaches it to the message.</a:t>
            </a:r>
          </a:p>
          <a:p>
            <a:pPr>
              <a:buFont typeface="+mj-lt"/>
              <a:buAutoNum type="arabicPeriod"/>
            </a:pPr>
            <a:r>
              <a:rPr lang="en-US" b="1" dirty="0"/>
              <a:t>Verification</a:t>
            </a:r>
            <a:r>
              <a:rPr lang="en-US" dirty="0"/>
              <a:t>:</a:t>
            </a:r>
          </a:p>
          <a:p>
            <a:pPr marL="742950" lvl="1" indent="-285750">
              <a:buFont typeface="+mj-lt"/>
              <a:buAutoNum type="arabicPeriod"/>
            </a:pPr>
            <a:r>
              <a:rPr lang="en-US" sz="2000" dirty="0"/>
              <a:t>The verifier uses the public key to confirm the signature.</a:t>
            </a:r>
          </a:p>
          <a:p>
            <a:pPr marL="742950" lvl="1" indent="-285750">
              <a:buFont typeface="+mj-lt"/>
              <a:buAutoNum type="arabicPeriod"/>
            </a:pPr>
            <a:r>
              <a:rPr lang="en-US" sz="2000" dirty="0"/>
              <a:t>They check whether the signature corresponds to the correct path in the hash tree, ensuring the message hasn't been tampered with.</a:t>
            </a:r>
          </a:p>
          <a:p>
            <a:endParaRPr lang="en-IN" dirty="0"/>
          </a:p>
        </p:txBody>
      </p:sp>
    </p:spTree>
    <p:extLst>
      <p:ext uri="{BB962C8B-B14F-4D97-AF65-F5344CB8AC3E}">
        <p14:creationId xmlns:p14="http://schemas.microsoft.com/office/powerpoint/2010/main" val="163619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93F5-ADEB-3BE6-6D7C-7BC0F2C51A2D}"/>
            </a:ext>
          </a:extLst>
        </p:cNvPr>
        <p:cNvGrpSpPr/>
        <p:nvPr/>
      </p:nvGrpSpPr>
      <p:grpSpPr>
        <a:xfrm>
          <a:off x="0" y="0"/>
          <a:ext cx="0" cy="0"/>
          <a:chOff x="0" y="0"/>
          <a:chExt cx="0" cy="0"/>
        </a:xfrm>
      </p:grpSpPr>
      <p:pic>
        <p:nvPicPr>
          <p:cNvPr id="9218" name="Picture 2" descr="Study Background Vector Art, Icons, and Graphics for Free Download">
            <a:extLst>
              <a:ext uri="{FF2B5EF4-FFF2-40B4-BE49-F238E27FC236}">
                <a16:creationId xmlns:a16="http://schemas.microsoft.com/office/drawing/2014/main" id="{E5B4AB3E-3239-2619-1617-2504055238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EE63945-06A1-5369-C3A8-4ED48D98FF85}"/>
              </a:ext>
            </a:extLst>
          </p:cNvPr>
          <p:cNvSpPr txBox="1"/>
          <p:nvPr/>
        </p:nvSpPr>
        <p:spPr>
          <a:xfrm>
            <a:off x="3328203" y="2611091"/>
            <a:ext cx="6394576" cy="2554545"/>
          </a:xfrm>
          <a:prstGeom prst="rect">
            <a:avLst/>
          </a:prstGeom>
          <a:noFill/>
        </p:spPr>
        <p:txBody>
          <a:bodyPr wrap="square" rtlCol="0">
            <a:spAutoFit/>
          </a:bodyPr>
          <a:lstStyle/>
          <a:p>
            <a:pPr algn="ctr"/>
            <a:r>
              <a:rPr lang="en-US" sz="8000" b="1" dirty="0">
                <a:solidFill>
                  <a:schemeClr val="bg2">
                    <a:lumMod val="50000"/>
                  </a:schemeClr>
                </a:solidFill>
                <a:latin typeface="+mj-lt"/>
              </a:rPr>
              <a:t>Integration into EN-LAKP</a:t>
            </a:r>
          </a:p>
        </p:txBody>
      </p:sp>
    </p:spTree>
    <p:extLst>
      <p:ext uri="{BB962C8B-B14F-4D97-AF65-F5344CB8AC3E}">
        <p14:creationId xmlns:p14="http://schemas.microsoft.com/office/powerpoint/2010/main" val="3879901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BF9615-85B2-4873-04EE-24E0A9B7AC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55582" y="0"/>
            <a:ext cx="6716909" cy="6858000"/>
          </a:xfrm>
          <a:prstGeom prst="rect">
            <a:avLst/>
          </a:prstGeom>
        </p:spPr>
      </p:pic>
      <p:sp>
        <p:nvSpPr>
          <p:cNvPr id="5" name="TextBox 4">
            <a:extLst>
              <a:ext uri="{FF2B5EF4-FFF2-40B4-BE49-F238E27FC236}">
                <a16:creationId xmlns:a16="http://schemas.microsoft.com/office/drawing/2014/main" id="{6DA8A886-88D3-262D-3A8A-33D7627F3CAF}"/>
              </a:ext>
            </a:extLst>
          </p:cNvPr>
          <p:cNvSpPr txBox="1"/>
          <p:nvPr/>
        </p:nvSpPr>
        <p:spPr>
          <a:xfrm>
            <a:off x="7961127" y="1874728"/>
            <a:ext cx="4032398" cy="2677656"/>
          </a:xfrm>
          <a:prstGeom prst="rect">
            <a:avLst/>
          </a:prstGeom>
          <a:noFill/>
        </p:spPr>
        <p:txBody>
          <a:bodyPr wrap="square">
            <a:spAutoFit/>
          </a:bodyPr>
          <a:lstStyle/>
          <a:p>
            <a:r>
              <a:rPr lang="en-US" sz="2800" dirty="0"/>
              <a:t>This scenario emphasizes the lightweight and efficient nature of EN-LAKP for resource-constrained environments like WSNs.</a:t>
            </a:r>
            <a:endParaRPr lang="en-IN" sz="2800" dirty="0"/>
          </a:p>
        </p:txBody>
      </p:sp>
    </p:spTree>
    <p:extLst>
      <p:ext uri="{BB962C8B-B14F-4D97-AF65-F5344CB8AC3E}">
        <p14:creationId xmlns:p14="http://schemas.microsoft.com/office/powerpoint/2010/main" val="580376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8168B-AAAE-6172-4CE5-BC4E2BDCA99E}"/>
              </a:ext>
            </a:extLst>
          </p:cNvPr>
          <p:cNvSpPr>
            <a:spLocks noGrp="1"/>
          </p:cNvSpPr>
          <p:nvPr>
            <p:ph type="title"/>
          </p:nvPr>
        </p:nvSpPr>
        <p:spPr/>
        <p:txBody>
          <a:bodyPr/>
          <a:lstStyle/>
          <a:p>
            <a:r>
              <a:rPr lang="en-US" b="1" dirty="0"/>
              <a:t>Design Modifications</a:t>
            </a:r>
            <a:endParaRPr lang="en-IN" b="1" dirty="0"/>
          </a:p>
        </p:txBody>
      </p:sp>
      <p:sp>
        <p:nvSpPr>
          <p:cNvPr id="3" name="Content Placeholder 2">
            <a:extLst>
              <a:ext uri="{FF2B5EF4-FFF2-40B4-BE49-F238E27FC236}">
                <a16:creationId xmlns:a16="http://schemas.microsoft.com/office/drawing/2014/main" id="{80218C12-2460-D37D-6387-661D3F28BF33}"/>
              </a:ext>
            </a:extLst>
          </p:cNvPr>
          <p:cNvSpPr>
            <a:spLocks noGrp="1"/>
          </p:cNvSpPr>
          <p:nvPr>
            <p:ph idx="1"/>
          </p:nvPr>
        </p:nvSpPr>
        <p:spPr>
          <a:xfrm>
            <a:off x="1097280" y="1845734"/>
            <a:ext cx="10862656" cy="4648584"/>
          </a:xfrm>
        </p:spPr>
        <p:txBody>
          <a:bodyPr>
            <a:noAutofit/>
          </a:bodyPr>
          <a:lstStyle/>
          <a:p>
            <a:pPr marL="457200" indent="-457200" algn="just">
              <a:buFont typeface="+mj-lt"/>
              <a:buAutoNum type="arabicPeriod"/>
            </a:pPr>
            <a:r>
              <a:rPr lang="en-US" sz="2400" b="1" dirty="0"/>
              <a:t>Replacement of ECC with Lattice-Based Cryptography</a:t>
            </a:r>
          </a:p>
          <a:p>
            <a:pPr marL="292608" lvl="1" indent="0" algn="just">
              <a:buNone/>
            </a:pPr>
            <a:r>
              <a:rPr lang="en-US" sz="2400" dirty="0"/>
              <a:t>	&gt; Substituted ECC with CRYSTAL-KYBER</a:t>
            </a:r>
          </a:p>
          <a:p>
            <a:pPr marL="292608" lvl="1" indent="0" algn="just">
              <a:buNone/>
            </a:pPr>
            <a:r>
              <a:rPr lang="en-US" sz="2400" dirty="0"/>
              <a:t>	&gt; Ensures secure and quantum-resistant session key agreements while 		maintaining lightweight characteristics.</a:t>
            </a:r>
          </a:p>
          <a:p>
            <a:pPr marL="457200" indent="-457200" algn="just">
              <a:buFont typeface="+mj-lt"/>
              <a:buAutoNum type="arabicPeriod"/>
            </a:pPr>
            <a:r>
              <a:rPr lang="en-US" sz="2400" b="1" dirty="0"/>
              <a:t>Incorporation of Hash-Based Digital Signatures</a:t>
            </a:r>
          </a:p>
          <a:p>
            <a:pPr marL="292608" lvl="1" indent="0" algn="just">
              <a:buNone/>
            </a:pPr>
            <a:r>
              <a:rPr lang="en-US" sz="2400" dirty="0"/>
              <a:t>	&gt; Integrated SPHINCS+, to provide quantum resilient authentication.</a:t>
            </a:r>
          </a:p>
          <a:p>
            <a:pPr marL="292608" lvl="1" indent="0" algn="just">
              <a:buNone/>
            </a:pPr>
            <a:r>
              <a:rPr lang="en-US" sz="2400" dirty="0"/>
              <a:t>	&gt; Eliminates dependency on asymmetric key signatures vulnerable to quantum 	attacks.</a:t>
            </a:r>
          </a:p>
          <a:p>
            <a:pPr marL="457200" indent="-457200" algn="just">
              <a:buFont typeface="+mj-lt"/>
              <a:buAutoNum type="arabicPeriod"/>
            </a:pPr>
            <a:r>
              <a:rPr lang="en-US" sz="2400" b="1" dirty="0"/>
              <a:t>Lightweight Enhancements</a:t>
            </a:r>
          </a:p>
          <a:p>
            <a:pPr marL="0" indent="0" algn="just">
              <a:buNone/>
            </a:pPr>
            <a:r>
              <a:rPr lang="en-US" sz="2400" dirty="0"/>
              <a:t>	&gt; Optimized cryptographic operations to minimize computational and 		communication overhead in resource-constrained environments.</a:t>
            </a:r>
          </a:p>
          <a:p>
            <a:pPr marL="292608" lvl="1" indent="0" algn="just">
              <a:buNone/>
            </a:pPr>
            <a:r>
              <a:rPr lang="en-US" sz="2400" dirty="0"/>
              <a:t>	</a:t>
            </a:r>
          </a:p>
        </p:txBody>
      </p:sp>
    </p:spTree>
    <p:extLst>
      <p:ext uri="{BB962C8B-B14F-4D97-AF65-F5344CB8AC3E}">
        <p14:creationId xmlns:p14="http://schemas.microsoft.com/office/powerpoint/2010/main" val="946168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50E4B7-45A9-67D0-C0F6-8985BCD86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74068"/>
            <a:ext cx="12192000" cy="5883932"/>
          </a:xfrm>
          <a:prstGeom prst="rect">
            <a:avLst/>
          </a:prstGeom>
        </p:spPr>
      </p:pic>
      <p:sp>
        <p:nvSpPr>
          <p:cNvPr id="6" name="TextBox 5">
            <a:extLst>
              <a:ext uri="{FF2B5EF4-FFF2-40B4-BE49-F238E27FC236}">
                <a16:creationId xmlns:a16="http://schemas.microsoft.com/office/drawing/2014/main" id="{0327D254-08E4-CA9C-9652-5F51A808FE22}"/>
              </a:ext>
            </a:extLst>
          </p:cNvPr>
          <p:cNvSpPr txBox="1"/>
          <p:nvPr/>
        </p:nvSpPr>
        <p:spPr>
          <a:xfrm>
            <a:off x="454541" y="120356"/>
            <a:ext cx="11485822" cy="523220"/>
          </a:xfrm>
          <a:prstGeom prst="rect">
            <a:avLst/>
          </a:prstGeom>
          <a:noFill/>
        </p:spPr>
        <p:txBody>
          <a:bodyPr wrap="square">
            <a:spAutoFit/>
          </a:bodyPr>
          <a:lstStyle/>
          <a:p>
            <a:r>
              <a:rPr lang="en-US" sz="2800" dirty="0"/>
              <a:t>This scenario emphasizes the System Initialization and User Registration.</a:t>
            </a:r>
            <a:endParaRPr lang="en-IN" sz="2800" dirty="0"/>
          </a:p>
        </p:txBody>
      </p:sp>
    </p:spTree>
    <p:extLst>
      <p:ext uri="{BB962C8B-B14F-4D97-AF65-F5344CB8AC3E}">
        <p14:creationId xmlns:p14="http://schemas.microsoft.com/office/powerpoint/2010/main" val="3630153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FF4D59-E6BC-A29B-4F2F-4EA2C1536E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16688"/>
            <a:ext cx="12192000" cy="6241312"/>
          </a:xfrm>
          <a:prstGeom prst="rect">
            <a:avLst/>
          </a:prstGeom>
        </p:spPr>
      </p:pic>
      <p:sp>
        <p:nvSpPr>
          <p:cNvPr id="4" name="TextBox 3">
            <a:extLst>
              <a:ext uri="{FF2B5EF4-FFF2-40B4-BE49-F238E27FC236}">
                <a16:creationId xmlns:a16="http://schemas.microsoft.com/office/drawing/2014/main" id="{77845122-59E6-BAB9-628A-DB85D73CE3C6}"/>
              </a:ext>
            </a:extLst>
          </p:cNvPr>
          <p:cNvSpPr txBox="1"/>
          <p:nvPr/>
        </p:nvSpPr>
        <p:spPr>
          <a:xfrm>
            <a:off x="454541" y="120356"/>
            <a:ext cx="11485822" cy="523220"/>
          </a:xfrm>
          <a:prstGeom prst="rect">
            <a:avLst/>
          </a:prstGeom>
          <a:noFill/>
        </p:spPr>
        <p:txBody>
          <a:bodyPr wrap="square">
            <a:spAutoFit/>
          </a:bodyPr>
          <a:lstStyle/>
          <a:p>
            <a:r>
              <a:rPr lang="en-US" sz="2800" dirty="0"/>
              <a:t>This scenario emphasizes the Login Authentication.</a:t>
            </a:r>
            <a:endParaRPr lang="en-IN" sz="2800" dirty="0"/>
          </a:p>
        </p:txBody>
      </p:sp>
    </p:spTree>
    <p:extLst>
      <p:ext uri="{BB962C8B-B14F-4D97-AF65-F5344CB8AC3E}">
        <p14:creationId xmlns:p14="http://schemas.microsoft.com/office/powerpoint/2010/main" val="1288661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DDE0C5-557A-5183-B9F2-94121F0DE9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8444" y="0"/>
            <a:ext cx="9303556" cy="6858000"/>
          </a:xfrm>
          <a:prstGeom prst="rect">
            <a:avLst/>
          </a:prstGeom>
        </p:spPr>
      </p:pic>
      <p:sp>
        <p:nvSpPr>
          <p:cNvPr id="4" name="TextBox 3">
            <a:extLst>
              <a:ext uri="{FF2B5EF4-FFF2-40B4-BE49-F238E27FC236}">
                <a16:creationId xmlns:a16="http://schemas.microsoft.com/office/drawing/2014/main" id="{31EACF7E-E540-61C1-F9B1-272059279B4D}"/>
              </a:ext>
            </a:extLst>
          </p:cNvPr>
          <p:cNvSpPr txBox="1"/>
          <p:nvPr/>
        </p:nvSpPr>
        <p:spPr>
          <a:xfrm>
            <a:off x="401378" y="1598281"/>
            <a:ext cx="2235496" cy="3108543"/>
          </a:xfrm>
          <a:prstGeom prst="rect">
            <a:avLst/>
          </a:prstGeom>
          <a:noFill/>
        </p:spPr>
        <p:txBody>
          <a:bodyPr wrap="square">
            <a:spAutoFit/>
          </a:bodyPr>
          <a:lstStyle/>
          <a:p>
            <a:r>
              <a:rPr lang="en-US" sz="2800" dirty="0"/>
              <a:t>This scenario emphasizes the adding Sensor node and Updating of User Credentials.</a:t>
            </a:r>
            <a:endParaRPr lang="en-IN" sz="2800" dirty="0"/>
          </a:p>
        </p:txBody>
      </p:sp>
    </p:spTree>
    <p:extLst>
      <p:ext uri="{BB962C8B-B14F-4D97-AF65-F5344CB8AC3E}">
        <p14:creationId xmlns:p14="http://schemas.microsoft.com/office/powerpoint/2010/main" val="121368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08701-E0B4-6E47-B69F-42F42EB4566D}"/>
              </a:ext>
            </a:extLst>
          </p:cNvPr>
          <p:cNvSpPr>
            <a:spLocks noGrp="1"/>
          </p:cNvSpPr>
          <p:nvPr>
            <p:ph type="title"/>
          </p:nvPr>
        </p:nvSpPr>
        <p:spPr/>
        <p:txBody>
          <a:bodyPr/>
          <a:lstStyle/>
          <a:p>
            <a:r>
              <a:rPr lang="en-US" b="1" dirty="0"/>
              <a:t>Expected Benefits</a:t>
            </a:r>
            <a:endParaRPr lang="en-IN" b="1" dirty="0"/>
          </a:p>
        </p:txBody>
      </p:sp>
      <p:sp>
        <p:nvSpPr>
          <p:cNvPr id="4" name="Rectangle 1">
            <a:extLst>
              <a:ext uri="{FF2B5EF4-FFF2-40B4-BE49-F238E27FC236}">
                <a16:creationId xmlns:a16="http://schemas.microsoft.com/office/drawing/2014/main" id="{43F04484-A070-70AB-0EA7-48E7F53B0A33}"/>
              </a:ext>
            </a:extLst>
          </p:cNvPr>
          <p:cNvSpPr>
            <a:spLocks noGrp="1" noChangeArrowheads="1"/>
          </p:cNvSpPr>
          <p:nvPr>
            <p:ph idx="1"/>
          </p:nvPr>
        </p:nvSpPr>
        <p:spPr bwMode="auto">
          <a:xfrm>
            <a:off x="966007" y="2077052"/>
            <a:ext cx="10567901"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Quantum Resilience</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None/>
            </a:pPr>
            <a:r>
              <a:rPr kumimoji="0" lang="en-US" altLang="en-US" sz="2200" b="0" i="0" u="none" strike="noStrike" cap="none" normalizeH="0" baseline="0" dirty="0">
                <a:ln>
                  <a:noFill/>
                </a:ln>
                <a:solidFill>
                  <a:schemeClr val="tx1"/>
                </a:solidFill>
                <a:effectLst/>
                <a:latin typeface="Arial" panose="020B0604020202020204" pitchFamily="34" charset="0"/>
              </a:rPr>
              <a:t>	Enhanced protocol will be resistant to both classical and quantum 	cryptanalytic attacks.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Efficiency in Resource-Constrained Environments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None/>
            </a:pPr>
            <a:r>
              <a:rPr kumimoji="0" lang="en-US" altLang="en-US" sz="2200" b="0" i="0" u="none" strike="noStrike" cap="none" normalizeH="0" baseline="0" dirty="0">
                <a:ln>
                  <a:noFill/>
                </a:ln>
                <a:solidFill>
                  <a:schemeClr val="tx1"/>
                </a:solidFill>
                <a:effectLst/>
                <a:latin typeface="Arial" panose="020B0604020202020204" pitchFamily="34" charset="0"/>
              </a:rPr>
              <a:t>	It Maintains lightweight properties suitable for WSNs and similar networks.</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Secure Communication Framework</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292608" lvl="1" indent="0" eaLnBrk="0" fontAlgn="base" hangingPunct="0">
              <a:lnSpc>
                <a:spcPct val="100000"/>
              </a:lnSpc>
              <a:spcBef>
                <a:spcPct val="0"/>
              </a:spcBef>
              <a:spcAft>
                <a:spcPct val="0"/>
              </a:spcAft>
              <a:buClrTx/>
              <a:buNone/>
            </a:pPr>
            <a:r>
              <a:rPr kumimoji="0" lang="en-US" altLang="en-US" sz="2200" b="0" i="0" u="none" strike="noStrike" cap="none" normalizeH="0" baseline="0" dirty="0">
                <a:ln>
                  <a:noFill/>
                </a:ln>
                <a:solidFill>
                  <a:schemeClr val="tx1"/>
                </a:solidFill>
                <a:effectLst/>
                <a:latin typeface="Arial" panose="020B0604020202020204" pitchFamily="34" charset="0"/>
              </a:rPr>
              <a:t>	Strengthened authentication and key agreement mechanisms, critical for 		future network architectures.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0871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E7AB8-22F1-7862-AD77-556C807F3A9C}"/>
            </a:ext>
          </a:extLst>
        </p:cNvPr>
        <p:cNvGrpSpPr/>
        <p:nvPr/>
      </p:nvGrpSpPr>
      <p:grpSpPr>
        <a:xfrm>
          <a:off x="0" y="0"/>
          <a:ext cx="0" cy="0"/>
          <a:chOff x="0" y="0"/>
          <a:chExt cx="0" cy="0"/>
        </a:xfrm>
      </p:grpSpPr>
      <p:pic>
        <p:nvPicPr>
          <p:cNvPr id="9218" name="Picture 2" descr="Study Background Vector Art, Icons, and Graphics for Free Download">
            <a:extLst>
              <a:ext uri="{FF2B5EF4-FFF2-40B4-BE49-F238E27FC236}">
                <a16:creationId xmlns:a16="http://schemas.microsoft.com/office/drawing/2014/main" id="{77D768FE-33E2-5443-2CDA-6E75E2966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FE4B4FD-5082-AECF-59A6-178CCAAA01BD}"/>
              </a:ext>
            </a:extLst>
          </p:cNvPr>
          <p:cNvSpPr txBox="1"/>
          <p:nvPr/>
        </p:nvSpPr>
        <p:spPr>
          <a:xfrm>
            <a:off x="3360287" y="2049617"/>
            <a:ext cx="6394576" cy="3785652"/>
          </a:xfrm>
          <a:prstGeom prst="rect">
            <a:avLst/>
          </a:prstGeom>
          <a:noFill/>
        </p:spPr>
        <p:txBody>
          <a:bodyPr wrap="square" rtlCol="0">
            <a:spAutoFit/>
          </a:bodyPr>
          <a:lstStyle/>
          <a:p>
            <a:pPr algn="ctr"/>
            <a:r>
              <a:rPr lang="en-US" sz="8000" b="1" dirty="0">
                <a:solidFill>
                  <a:schemeClr val="bg2">
                    <a:lumMod val="50000"/>
                  </a:schemeClr>
                </a:solidFill>
                <a:latin typeface="+mj-lt"/>
              </a:rPr>
              <a:t>Preliminary Results and Next Steps</a:t>
            </a:r>
          </a:p>
        </p:txBody>
      </p:sp>
    </p:spTree>
    <p:extLst>
      <p:ext uri="{BB962C8B-B14F-4D97-AF65-F5344CB8AC3E}">
        <p14:creationId xmlns:p14="http://schemas.microsoft.com/office/powerpoint/2010/main" val="3990273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FB17-74BD-72B1-2869-93863AB19FAB}"/>
              </a:ext>
            </a:extLst>
          </p:cNvPr>
          <p:cNvSpPr>
            <a:spLocks noGrp="1"/>
          </p:cNvSpPr>
          <p:nvPr>
            <p:ph type="title"/>
          </p:nvPr>
        </p:nvSpPr>
        <p:spPr/>
        <p:txBody>
          <a:bodyPr/>
          <a:lstStyle/>
          <a:p>
            <a:r>
              <a:rPr lang="en-US" b="1" dirty="0"/>
              <a:t>Current Progress</a:t>
            </a:r>
            <a:endParaRPr lang="en-IN" b="1" dirty="0"/>
          </a:p>
        </p:txBody>
      </p:sp>
      <p:sp>
        <p:nvSpPr>
          <p:cNvPr id="4" name="Rectangle 1">
            <a:extLst>
              <a:ext uri="{FF2B5EF4-FFF2-40B4-BE49-F238E27FC236}">
                <a16:creationId xmlns:a16="http://schemas.microsoft.com/office/drawing/2014/main" id="{1A069790-3DD0-E357-84E3-7941705E15D7}"/>
              </a:ext>
            </a:extLst>
          </p:cNvPr>
          <p:cNvSpPr>
            <a:spLocks noGrp="1" noChangeArrowheads="1"/>
          </p:cNvSpPr>
          <p:nvPr>
            <p:ph idx="1"/>
          </p:nvPr>
        </p:nvSpPr>
        <p:spPr bwMode="auto">
          <a:xfrm>
            <a:off x="858289" y="2100916"/>
            <a:ext cx="1125751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Vulnerability Analysis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Identified quantum threats to EN-LAKP, including key exchange and 	authentication mechanisms vulnerable to Shor's and Grover's algorithms.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Integration Design</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1. Incorporated </a:t>
            </a:r>
            <a:r>
              <a:rPr kumimoji="0" lang="en-US" altLang="en-US" sz="2400" b="1" i="0" u="none" strike="noStrike" cap="none" normalizeH="0" baseline="0" dirty="0">
                <a:ln>
                  <a:noFill/>
                </a:ln>
                <a:solidFill>
                  <a:schemeClr val="tx1"/>
                </a:solidFill>
                <a:effectLst/>
                <a:latin typeface="Arial" panose="020B0604020202020204" pitchFamily="34" charset="0"/>
              </a:rPr>
              <a:t>CRYSTALS-KYBER</a:t>
            </a:r>
            <a:r>
              <a:rPr kumimoji="0" lang="en-US" altLang="en-US" sz="2400" b="0" i="0" u="none" strike="noStrike" cap="none" normalizeH="0" baseline="0" dirty="0">
                <a:ln>
                  <a:noFill/>
                </a:ln>
                <a:solidFill>
                  <a:schemeClr val="tx1"/>
                </a:solidFill>
                <a:effectLst/>
                <a:latin typeface="Arial" panose="020B0604020202020204" pitchFamily="34" charset="0"/>
              </a:rPr>
              <a:t> for quantum-safe key exchange.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2. Integrating </a:t>
            </a:r>
            <a:r>
              <a:rPr kumimoji="0" lang="en-US" altLang="en-US" sz="2400" b="1" i="0" u="none" strike="noStrike" cap="none" normalizeH="0" baseline="0" dirty="0">
                <a:ln>
                  <a:noFill/>
                </a:ln>
                <a:solidFill>
                  <a:schemeClr val="tx1"/>
                </a:solidFill>
                <a:effectLst/>
                <a:latin typeface="Arial" panose="020B0604020202020204" pitchFamily="34" charset="0"/>
              </a:rPr>
              <a:t>SPHINCS+</a:t>
            </a:r>
            <a:r>
              <a:rPr kumimoji="0" lang="en-US" altLang="en-US" sz="2400" b="0" i="0" u="none" strike="noStrike" cap="none" normalizeH="0" baseline="0" dirty="0">
                <a:ln>
                  <a:noFill/>
                </a:ln>
                <a:solidFill>
                  <a:schemeClr val="tx1"/>
                </a:solidFill>
                <a:effectLst/>
                <a:latin typeface="Arial" panose="020B0604020202020204" pitchFamily="34" charset="0"/>
              </a:rPr>
              <a:t> for lightweight, hash-based digital signatures.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3. Ensured minimal impact on computational and communication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2322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BF52-0DC2-439B-AB2F-BD1D632C1427}"/>
              </a:ext>
            </a:extLst>
          </p:cNvPr>
          <p:cNvSpPr>
            <a:spLocks noGrp="1"/>
          </p:cNvSpPr>
          <p:nvPr>
            <p:ph type="title"/>
          </p:nvPr>
        </p:nvSpPr>
        <p:spPr/>
        <p:txBody>
          <a:bodyPr/>
          <a:lstStyle/>
          <a:p>
            <a:r>
              <a:rPr lang="en-US" b="1" dirty="0"/>
              <a:t>Future Work</a:t>
            </a:r>
            <a:endParaRPr lang="en-IN" b="1" dirty="0"/>
          </a:p>
        </p:txBody>
      </p:sp>
      <p:sp>
        <p:nvSpPr>
          <p:cNvPr id="3" name="Content Placeholder 2">
            <a:extLst>
              <a:ext uri="{FF2B5EF4-FFF2-40B4-BE49-F238E27FC236}">
                <a16:creationId xmlns:a16="http://schemas.microsoft.com/office/drawing/2014/main" id="{00231304-3586-0F79-20AB-DE652EAE4803}"/>
              </a:ext>
            </a:extLst>
          </p:cNvPr>
          <p:cNvSpPr>
            <a:spLocks noGrp="1"/>
          </p:cNvSpPr>
          <p:nvPr>
            <p:ph idx="1"/>
          </p:nvPr>
        </p:nvSpPr>
        <p:spPr/>
        <p:txBody>
          <a:bodyPr>
            <a:noAutofit/>
          </a:bodyPr>
          <a:lstStyle/>
          <a:p>
            <a:r>
              <a:rPr lang="en-US" sz="2200" b="1" dirty="0"/>
              <a:t>Phase 1: Simulation and Implementation (1-2 Months)</a:t>
            </a:r>
            <a:endParaRPr lang="en-US" sz="2200" dirty="0"/>
          </a:p>
          <a:p>
            <a:pPr lvl="1">
              <a:buFont typeface="Arial" panose="020B0604020202020204" pitchFamily="34" charset="0"/>
              <a:buChar char="•"/>
            </a:pPr>
            <a:r>
              <a:rPr lang="en-US" sz="2200" b="1" dirty="0"/>
              <a:t>Step 1:</a:t>
            </a:r>
            <a:r>
              <a:rPr lang="en-US" sz="2200" dirty="0"/>
              <a:t> Add post-quantum cryptographic methods (CRYSTALS-KYBER and SPHINCS+) to the EN-LAKP protocol.</a:t>
            </a:r>
          </a:p>
          <a:p>
            <a:pPr lvl="1">
              <a:buFont typeface="Arial" panose="020B0604020202020204" pitchFamily="34" charset="0"/>
              <a:buChar char="•"/>
            </a:pPr>
            <a:r>
              <a:rPr lang="en-US" sz="2200" b="1" dirty="0"/>
              <a:t>Step 2:</a:t>
            </a:r>
            <a:r>
              <a:rPr lang="en-US" sz="2200" dirty="0"/>
              <a:t> Create a simulation environment for SDN-enabled WSN using NS3 or </a:t>
            </a:r>
            <a:r>
              <a:rPr lang="en-US" sz="2200" dirty="0" err="1"/>
              <a:t>OMNeT</a:t>
            </a:r>
            <a:r>
              <a:rPr lang="en-US" sz="2200" dirty="0"/>
              <a:t>++.</a:t>
            </a:r>
          </a:p>
          <a:p>
            <a:r>
              <a:rPr lang="en-US" sz="2200" b="1" dirty="0"/>
              <a:t>Phase 2: Security Validation (1 Month)</a:t>
            </a:r>
            <a:endParaRPr lang="en-US" sz="2200" dirty="0"/>
          </a:p>
          <a:p>
            <a:pPr lvl="1">
              <a:buFont typeface="Arial" panose="020B0604020202020204" pitchFamily="34" charset="0"/>
              <a:buChar char="•"/>
            </a:pPr>
            <a:r>
              <a:rPr lang="en-US" sz="2200" b="1" dirty="0"/>
              <a:t>Step 3:</a:t>
            </a:r>
            <a:r>
              <a:rPr lang="en-US" sz="2200" dirty="0"/>
              <a:t> Perform a detailed security check using the Scyther tool.</a:t>
            </a:r>
          </a:p>
          <a:p>
            <a:pPr lvl="1">
              <a:buFont typeface="Arial" panose="020B0604020202020204" pitchFamily="34" charset="0"/>
              <a:buChar char="•"/>
            </a:pPr>
            <a:r>
              <a:rPr lang="en-US" sz="2200" b="1" dirty="0"/>
              <a:t>Step 4:</a:t>
            </a:r>
            <a:r>
              <a:rPr lang="en-US" sz="2200" dirty="0"/>
              <a:t> Test the protocol against both traditional and quantum-based attacks.</a:t>
            </a:r>
          </a:p>
          <a:p>
            <a:r>
              <a:rPr lang="en-US" sz="2200" b="1" dirty="0"/>
              <a:t>Phase 3: Performance Evaluation (1-2 Months)</a:t>
            </a:r>
            <a:endParaRPr lang="en-US" sz="2200" dirty="0"/>
          </a:p>
          <a:p>
            <a:pPr lvl="1">
              <a:buFont typeface="Arial" panose="020B0604020202020204" pitchFamily="34" charset="0"/>
              <a:buChar char="•"/>
            </a:pPr>
            <a:r>
              <a:rPr lang="en-US" sz="2200" b="1" dirty="0"/>
              <a:t>Step 5:</a:t>
            </a:r>
            <a:r>
              <a:rPr lang="en-US" sz="2200" dirty="0"/>
              <a:t> Measure communication and processing efficiency using tools like Wireshark.</a:t>
            </a:r>
          </a:p>
          <a:p>
            <a:pPr lvl="1">
              <a:buFont typeface="Arial" panose="020B0604020202020204" pitchFamily="34" charset="0"/>
              <a:buChar char="•"/>
            </a:pPr>
            <a:r>
              <a:rPr lang="en-US" sz="2200" b="1" dirty="0"/>
              <a:t>Step 6:</a:t>
            </a:r>
            <a:r>
              <a:rPr lang="en-US" sz="2200" dirty="0"/>
              <a:t> Compare the improved protocol's performance under different conditions and attacks.</a:t>
            </a:r>
          </a:p>
          <a:p>
            <a:endParaRPr lang="en-US" sz="2200" dirty="0"/>
          </a:p>
        </p:txBody>
      </p:sp>
    </p:spTree>
    <p:extLst>
      <p:ext uri="{BB962C8B-B14F-4D97-AF65-F5344CB8AC3E}">
        <p14:creationId xmlns:p14="http://schemas.microsoft.com/office/powerpoint/2010/main" val="3792500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84875-BB01-5402-9DBE-83C3161E1F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8E452-CBCC-132D-5CB2-A7C8AAEA482E}"/>
              </a:ext>
            </a:extLst>
          </p:cNvPr>
          <p:cNvSpPr>
            <a:spLocks noGrp="1"/>
          </p:cNvSpPr>
          <p:nvPr>
            <p:ph type="title"/>
          </p:nvPr>
        </p:nvSpPr>
        <p:spPr/>
        <p:txBody>
          <a:bodyPr/>
          <a:lstStyle/>
          <a:p>
            <a:r>
              <a:rPr lang="en-US" b="1" dirty="0"/>
              <a:t>Future Work</a:t>
            </a:r>
            <a:endParaRPr lang="en-IN" b="1" dirty="0"/>
          </a:p>
        </p:txBody>
      </p:sp>
      <p:sp>
        <p:nvSpPr>
          <p:cNvPr id="3" name="Content Placeholder 2">
            <a:extLst>
              <a:ext uri="{FF2B5EF4-FFF2-40B4-BE49-F238E27FC236}">
                <a16:creationId xmlns:a16="http://schemas.microsoft.com/office/drawing/2014/main" id="{90E67013-A221-B7EE-2979-EDB99C3B8D26}"/>
              </a:ext>
            </a:extLst>
          </p:cNvPr>
          <p:cNvSpPr>
            <a:spLocks noGrp="1"/>
          </p:cNvSpPr>
          <p:nvPr>
            <p:ph idx="1"/>
          </p:nvPr>
        </p:nvSpPr>
        <p:spPr/>
        <p:txBody>
          <a:bodyPr>
            <a:noAutofit/>
          </a:bodyPr>
          <a:lstStyle/>
          <a:p>
            <a:r>
              <a:rPr lang="en-US" sz="2200" b="1" dirty="0"/>
              <a:t>Phase 4: Scalability and Adaptability Testing (1 Month)</a:t>
            </a:r>
            <a:endParaRPr lang="en-US" sz="2200" dirty="0"/>
          </a:p>
          <a:p>
            <a:pPr lvl="1">
              <a:buFont typeface="Arial" panose="020B0604020202020204" pitchFamily="34" charset="0"/>
              <a:buChar char="•"/>
            </a:pPr>
            <a:r>
              <a:rPr lang="en-US" sz="2200" b="1" dirty="0"/>
              <a:t>Step 7:</a:t>
            </a:r>
            <a:r>
              <a:rPr lang="en-US" sz="2200" dirty="0"/>
              <a:t> Test the protocol in large-scale networks with heavy traffic.</a:t>
            </a:r>
          </a:p>
          <a:p>
            <a:pPr lvl="1">
              <a:buFont typeface="Arial" panose="020B0604020202020204" pitchFamily="34" charset="0"/>
              <a:buChar char="•"/>
            </a:pPr>
            <a:r>
              <a:rPr lang="en-US" sz="2200" b="1" dirty="0"/>
              <a:t>Step 8:</a:t>
            </a:r>
            <a:r>
              <a:rPr lang="en-US" sz="2200" dirty="0"/>
              <a:t> Simulate real-world IoT scenarios to check practicality.</a:t>
            </a:r>
          </a:p>
          <a:p>
            <a:r>
              <a:rPr lang="en-US" sz="2200" b="1" dirty="0"/>
              <a:t>Phase 5: Documentation and Sharing (1 Month)</a:t>
            </a:r>
          </a:p>
          <a:p>
            <a:pPr lvl="1">
              <a:buFont typeface="Arial" panose="020B0604020202020204" pitchFamily="34" charset="0"/>
              <a:buChar char="•"/>
            </a:pPr>
            <a:r>
              <a:rPr lang="en-US" sz="2200" b="1" dirty="0"/>
              <a:t>Step 9:</a:t>
            </a:r>
            <a:r>
              <a:rPr lang="en-US" sz="2200" dirty="0"/>
              <a:t> Summarize all work into a comprehensive research report.</a:t>
            </a:r>
          </a:p>
          <a:p>
            <a:pPr lvl="1">
              <a:buFont typeface="Arial" panose="020B0604020202020204" pitchFamily="34" charset="0"/>
              <a:buChar char="•"/>
            </a:pPr>
            <a:r>
              <a:rPr lang="en-US" sz="2200" b="1" dirty="0"/>
              <a:t>Step 10:</a:t>
            </a:r>
            <a:r>
              <a:rPr lang="en-US" sz="2200" dirty="0"/>
              <a:t> Share the findings in journals or conferences.</a:t>
            </a:r>
          </a:p>
        </p:txBody>
      </p:sp>
    </p:spTree>
    <p:extLst>
      <p:ext uri="{BB962C8B-B14F-4D97-AF65-F5344CB8AC3E}">
        <p14:creationId xmlns:p14="http://schemas.microsoft.com/office/powerpoint/2010/main" val="116300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6162C-BDFE-E821-A2D6-5C2D6827E3E7}"/>
              </a:ext>
            </a:extLst>
          </p:cNvPr>
          <p:cNvSpPr>
            <a:spLocks noGrp="1"/>
          </p:cNvSpPr>
          <p:nvPr>
            <p:ph type="title"/>
          </p:nvPr>
        </p:nvSpPr>
        <p:spPr/>
        <p:txBody>
          <a:bodyPr/>
          <a:lstStyle/>
          <a:p>
            <a:r>
              <a:rPr lang="en-US" b="1" dirty="0"/>
              <a:t>Conclusion</a:t>
            </a:r>
            <a:endParaRPr lang="en-IN" b="1" dirty="0"/>
          </a:p>
        </p:txBody>
      </p:sp>
      <p:sp>
        <p:nvSpPr>
          <p:cNvPr id="4" name="Rectangle 1">
            <a:extLst>
              <a:ext uri="{FF2B5EF4-FFF2-40B4-BE49-F238E27FC236}">
                <a16:creationId xmlns:a16="http://schemas.microsoft.com/office/drawing/2014/main" id="{61183DE6-E3AF-1942-C90A-5795C21DC37E}"/>
              </a:ext>
            </a:extLst>
          </p:cNvPr>
          <p:cNvSpPr>
            <a:spLocks noGrp="1" noChangeArrowheads="1"/>
          </p:cNvSpPr>
          <p:nvPr>
            <p:ph idx="1"/>
          </p:nvPr>
        </p:nvSpPr>
        <p:spPr bwMode="auto">
          <a:xfrm>
            <a:off x="436450" y="2108554"/>
            <a:ext cx="11641975" cy="3912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defRPr sz="1800" b="0"/>
            </a:pPr>
            <a:r>
              <a:rPr lang="en-IN" sz="3200" dirty="0"/>
              <a:t>• EN-LAKP enhancements focus on quantum resilience.</a:t>
            </a:r>
          </a:p>
          <a:p>
            <a:pPr>
              <a:defRPr sz="1800" b="0"/>
            </a:pPr>
            <a:endParaRPr lang="en-IN" sz="3200" dirty="0"/>
          </a:p>
          <a:p>
            <a:pPr>
              <a:defRPr sz="1800" b="0"/>
            </a:pPr>
            <a:r>
              <a:rPr lang="en-IN" sz="3200" dirty="0"/>
              <a:t>• CRYSTALS-KYBER and SPHINCS+ ensure security against quantum threats.</a:t>
            </a:r>
          </a:p>
          <a:p>
            <a:pPr>
              <a:defRPr sz="1800" b="0"/>
            </a:pPr>
            <a:endParaRPr lang="en-IN" sz="3200" dirty="0"/>
          </a:p>
          <a:p>
            <a:pPr>
              <a:defRPr sz="1800" b="0"/>
            </a:pPr>
            <a:r>
              <a:rPr lang="en-IN" sz="3200" dirty="0"/>
              <a:t>• Maintains lightweight properties for resource-constrained networks.</a:t>
            </a:r>
          </a:p>
        </p:txBody>
      </p:sp>
    </p:spTree>
    <p:extLst>
      <p:ext uri="{BB962C8B-B14F-4D97-AF65-F5344CB8AC3E}">
        <p14:creationId xmlns:p14="http://schemas.microsoft.com/office/powerpoint/2010/main" val="908503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1B7A-165E-6FD0-A39F-A9D8834E32B3}"/>
              </a:ext>
            </a:extLst>
          </p:cNvPr>
          <p:cNvSpPr>
            <a:spLocks noGrp="1"/>
          </p:cNvSpPr>
          <p:nvPr>
            <p:ph type="title"/>
          </p:nvPr>
        </p:nvSpPr>
        <p:spPr/>
        <p:txBody>
          <a:bodyPr/>
          <a:lstStyle/>
          <a:p>
            <a:r>
              <a:rPr lang="en-US" b="1" dirty="0"/>
              <a:t>References</a:t>
            </a:r>
            <a:endParaRPr lang="en-IN" b="1" dirty="0"/>
          </a:p>
        </p:txBody>
      </p:sp>
      <p:sp>
        <p:nvSpPr>
          <p:cNvPr id="3" name="Content Placeholder 2">
            <a:extLst>
              <a:ext uri="{FF2B5EF4-FFF2-40B4-BE49-F238E27FC236}">
                <a16:creationId xmlns:a16="http://schemas.microsoft.com/office/drawing/2014/main" id="{761A67DC-6914-B279-D8FC-63E9184DB8B9}"/>
              </a:ext>
            </a:extLst>
          </p:cNvPr>
          <p:cNvSpPr>
            <a:spLocks noGrp="1"/>
          </p:cNvSpPr>
          <p:nvPr>
            <p:ph idx="1"/>
          </p:nvPr>
        </p:nvSpPr>
        <p:spPr/>
        <p:txBody>
          <a:bodyPr>
            <a:normAutofit lnSpcReduction="10000"/>
          </a:bodyPr>
          <a:lstStyle/>
          <a:p>
            <a:r>
              <a:rPr lang="en-IN" dirty="0"/>
              <a:t>1. N. Anand and M. A. </a:t>
            </a:r>
            <a:r>
              <a:rPr lang="en-IN" dirty="0" err="1"/>
              <a:t>Saifulla</a:t>
            </a:r>
            <a:r>
              <a:rPr lang="en-IN" dirty="0"/>
              <a:t>, ”EN-LAKP: Lightweight Authentication and Key Agree </a:t>
            </a:r>
            <a:r>
              <a:rPr lang="en-IN" dirty="0" err="1"/>
              <a:t>ment</a:t>
            </a:r>
            <a:r>
              <a:rPr lang="en-IN" dirty="0"/>
              <a:t> Protocol for Emerging Networks,” in IEEE Access, vol. 11, pp. 28645-28657, 2023, </a:t>
            </a:r>
            <a:r>
              <a:rPr lang="en-IN" dirty="0" err="1"/>
              <a:t>doi</a:t>
            </a:r>
            <a:r>
              <a:rPr lang="en-IN" dirty="0"/>
              <a:t>: 10.1109/ACCESS.2023.3255646. </a:t>
            </a:r>
          </a:p>
          <a:p>
            <a:r>
              <a:rPr lang="en-IN" dirty="0"/>
              <a:t>2. R. </a:t>
            </a:r>
            <a:r>
              <a:rPr lang="en-IN" dirty="0" err="1"/>
              <a:t>Bavdekar</a:t>
            </a:r>
            <a:r>
              <a:rPr lang="en-IN" dirty="0"/>
              <a:t>, E. Jayant </a:t>
            </a:r>
            <a:r>
              <a:rPr lang="en-IN" dirty="0" err="1"/>
              <a:t>Chopde</a:t>
            </a:r>
            <a:r>
              <a:rPr lang="en-IN" dirty="0"/>
              <a:t>, A. Agrawal, A. Bhatia and K. Tiwari, ”Post Quantum Cryptography: A Review of Techniques, Challenges and Standardizations,” 2023 International Conference on Information Networking (ICOIN), Bangkok, Thailand, 2023, pp. 146-151, </a:t>
            </a:r>
            <a:r>
              <a:rPr lang="en-IN" dirty="0" err="1"/>
              <a:t>doi</a:t>
            </a:r>
            <a:r>
              <a:rPr lang="en-IN" dirty="0"/>
              <a:t>: 10.1109/ICOIN56518.2023.10048976.</a:t>
            </a:r>
          </a:p>
          <a:p>
            <a:r>
              <a:rPr lang="en-IN" dirty="0"/>
              <a:t>3. </a:t>
            </a:r>
            <a:r>
              <a:rPr lang="en-IN" b="0" i="0" dirty="0">
                <a:solidFill>
                  <a:srgbClr val="333333"/>
                </a:solidFill>
                <a:effectLst/>
                <a:latin typeface="Arial" panose="020B0604020202020204" pitchFamily="34" charset="0"/>
              </a:rPr>
              <a:t>M. Heigl, M. Schramm and D. Fiala, "A Lightweight Quantum-Safe Security Concept for Wireless Sensor Network Communication," in 2019 IEEE International Conference on Pervasive Computing and Communications Workshops (</a:t>
            </a:r>
            <a:r>
              <a:rPr lang="en-IN" b="0" i="0" dirty="0" err="1">
                <a:solidFill>
                  <a:srgbClr val="333333"/>
                </a:solidFill>
                <a:effectLst/>
                <a:latin typeface="Arial" panose="020B0604020202020204" pitchFamily="34" charset="0"/>
              </a:rPr>
              <a:t>PerCom</a:t>
            </a:r>
            <a:r>
              <a:rPr lang="en-IN" b="0" i="0" dirty="0">
                <a:solidFill>
                  <a:srgbClr val="333333"/>
                </a:solidFill>
                <a:effectLst/>
                <a:latin typeface="Arial" panose="020B0604020202020204" pitchFamily="34" charset="0"/>
              </a:rPr>
              <a:t> Workshops), Kyoto, Japan, 2019, pp. 906-911, </a:t>
            </a:r>
            <a:r>
              <a:rPr lang="en-IN" b="0" i="0" dirty="0" err="1">
                <a:solidFill>
                  <a:srgbClr val="333333"/>
                </a:solidFill>
                <a:effectLst/>
                <a:latin typeface="Arial" panose="020B0604020202020204" pitchFamily="34" charset="0"/>
              </a:rPr>
              <a:t>doi</a:t>
            </a:r>
            <a:r>
              <a:rPr lang="en-IN" b="0" i="0" dirty="0">
                <a:solidFill>
                  <a:srgbClr val="333333"/>
                </a:solidFill>
                <a:effectLst/>
                <a:latin typeface="Arial" panose="020B0604020202020204" pitchFamily="34" charset="0"/>
              </a:rPr>
              <a:t>: 10.1109/PERCOMW.2019.8730749.</a:t>
            </a:r>
          </a:p>
          <a:p>
            <a:r>
              <a:rPr lang="en-IN" dirty="0">
                <a:solidFill>
                  <a:srgbClr val="333333"/>
                </a:solidFill>
                <a:latin typeface="Arial" panose="020B0604020202020204" pitchFamily="34" charset="0"/>
              </a:rPr>
              <a:t>4. </a:t>
            </a:r>
            <a:r>
              <a:rPr lang="en-US" b="0" i="0" dirty="0">
                <a:solidFill>
                  <a:srgbClr val="222222"/>
                </a:solidFill>
                <a:effectLst/>
                <a:latin typeface="Merriweather Sans" panose="020F0502020204030204" pitchFamily="2" charset="0"/>
              </a:rPr>
              <a:t>Singh, M., Mishra, D. Post-quantum secure authenticated key agreement protocol for wireless sensor networks. </a:t>
            </a:r>
            <a:r>
              <a:rPr lang="en-US" b="0" i="1" dirty="0" err="1">
                <a:solidFill>
                  <a:srgbClr val="222222"/>
                </a:solidFill>
                <a:effectLst/>
                <a:latin typeface="Merriweather Sans" panose="020F0502020204030204" pitchFamily="2" charset="0"/>
              </a:rPr>
              <a:t>Telecommun</a:t>
            </a:r>
            <a:r>
              <a:rPr lang="en-US" b="0" i="1" dirty="0">
                <a:solidFill>
                  <a:srgbClr val="222222"/>
                </a:solidFill>
                <a:effectLst/>
                <a:latin typeface="Merriweather Sans" panose="020F0502020204030204" pitchFamily="2" charset="0"/>
              </a:rPr>
              <a:t> Syst</a:t>
            </a:r>
            <a:r>
              <a:rPr lang="en-US" b="0" i="0" dirty="0">
                <a:solidFill>
                  <a:srgbClr val="222222"/>
                </a:solidFill>
                <a:effectLst/>
                <a:latin typeface="Merriweather Sans" panose="020F0502020204030204" pitchFamily="2" charset="0"/>
              </a:rPr>
              <a:t> </a:t>
            </a:r>
            <a:r>
              <a:rPr lang="en-US" b="1" i="0" dirty="0">
                <a:solidFill>
                  <a:srgbClr val="222222"/>
                </a:solidFill>
                <a:effectLst/>
                <a:latin typeface="Merriweather Sans" panose="020F0502020204030204" pitchFamily="2" charset="0"/>
              </a:rPr>
              <a:t>84</a:t>
            </a:r>
            <a:r>
              <a:rPr lang="en-US" b="0" i="0" dirty="0">
                <a:solidFill>
                  <a:srgbClr val="222222"/>
                </a:solidFill>
                <a:effectLst/>
                <a:latin typeface="Merriweather Sans" panose="020F0502020204030204" pitchFamily="2" charset="0"/>
              </a:rPr>
              <a:t>, 101–113 (2023).</a:t>
            </a:r>
            <a:endParaRPr lang="en-IN" dirty="0"/>
          </a:p>
        </p:txBody>
      </p:sp>
    </p:spTree>
    <p:extLst>
      <p:ext uri="{BB962C8B-B14F-4D97-AF65-F5344CB8AC3E}">
        <p14:creationId xmlns:p14="http://schemas.microsoft.com/office/powerpoint/2010/main" val="17981816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8CE4-B006-9A2A-BA73-207B43E96883}"/>
            </a:ext>
          </a:extLst>
        </p:cNvPr>
        <p:cNvGrpSpPr/>
        <p:nvPr/>
      </p:nvGrpSpPr>
      <p:grpSpPr>
        <a:xfrm>
          <a:off x="0" y="0"/>
          <a:ext cx="0" cy="0"/>
          <a:chOff x="0" y="0"/>
          <a:chExt cx="0" cy="0"/>
        </a:xfrm>
      </p:grpSpPr>
      <p:pic>
        <p:nvPicPr>
          <p:cNvPr id="9218" name="Picture 2" descr="Study Background Vector Art, Icons, and Graphics for Free Download">
            <a:extLst>
              <a:ext uri="{FF2B5EF4-FFF2-40B4-BE49-F238E27FC236}">
                <a16:creationId xmlns:a16="http://schemas.microsoft.com/office/drawing/2014/main" id="{0AE79F31-8719-31D7-C6FA-C951538FC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A3D07B6-D258-F35B-EE84-340FB270CFFD}"/>
              </a:ext>
            </a:extLst>
          </p:cNvPr>
          <p:cNvSpPr txBox="1"/>
          <p:nvPr/>
        </p:nvSpPr>
        <p:spPr>
          <a:xfrm>
            <a:off x="3297941" y="3067926"/>
            <a:ext cx="6394576" cy="1323439"/>
          </a:xfrm>
          <a:prstGeom prst="rect">
            <a:avLst/>
          </a:prstGeom>
          <a:noFill/>
        </p:spPr>
        <p:txBody>
          <a:bodyPr wrap="square" rtlCol="0">
            <a:spAutoFit/>
          </a:bodyPr>
          <a:lstStyle/>
          <a:p>
            <a:pPr algn="ctr"/>
            <a:r>
              <a:rPr lang="en-US" sz="8000" b="1" dirty="0">
                <a:solidFill>
                  <a:schemeClr val="bg2">
                    <a:lumMod val="50000"/>
                  </a:schemeClr>
                </a:solidFill>
                <a:latin typeface="+mj-lt"/>
              </a:rPr>
              <a:t>Thank You</a:t>
            </a:r>
          </a:p>
        </p:txBody>
      </p:sp>
    </p:spTree>
    <p:extLst>
      <p:ext uri="{BB962C8B-B14F-4D97-AF65-F5344CB8AC3E}">
        <p14:creationId xmlns:p14="http://schemas.microsoft.com/office/powerpoint/2010/main" val="708130451"/>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5867</TotalTime>
  <Words>2068</Words>
  <Application>Microsoft Office PowerPoint</Application>
  <PresentationFormat>Widescreen</PresentationFormat>
  <Paragraphs>244</Paragraphs>
  <Slides>30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Merriweather Sans</vt:lpstr>
      <vt:lpstr>Wingdings</vt:lpstr>
      <vt:lpstr>Retrospect</vt:lpstr>
      <vt:lpstr>Securing Lightweight Authentication Protocol against Quantum Attacks.</vt:lpstr>
      <vt:lpstr>Context and Motivation</vt:lpstr>
      <vt:lpstr>Problem Statement</vt:lpstr>
      <vt:lpstr>Research Objectives</vt:lpstr>
      <vt:lpstr>PowerPoint Presentation</vt:lpstr>
      <vt:lpstr>Overview of EN-LAKP (Lightweight Authentication and Key Agreement Protocol)</vt:lpstr>
      <vt:lpstr>PowerPoint Presentation</vt:lpstr>
      <vt:lpstr>Quantum Computing Threats</vt:lpstr>
      <vt:lpstr>Need for Quantum-Resistant Cryptography</vt:lpstr>
      <vt:lpstr>PowerPoint Presentation</vt:lpstr>
      <vt:lpstr>PQC Algorithm Families</vt:lpstr>
      <vt:lpstr>Comparison of Algorithms</vt:lpstr>
      <vt:lpstr>Comparison of Algorithms</vt:lpstr>
      <vt:lpstr>Selected Algorithms</vt:lpstr>
      <vt:lpstr>CRYSTAL-KYBER Working</vt:lpstr>
      <vt:lpstr>SPHINCS+ Working</vt:lpstr>
      <vt:lpstr>PowerPoint Presentation</vt:lpstr>
      <vt:lpstr>PowerPoint Presentation</vt:lpstr>
      <vt:lpstr>Design Modifications</vt:lpstr>
      <vt:lpstr>PowerPoint Presentation</vt:lpstr>
      <vt:lpstr>PowerPoint Presentation</vt:lpstr>
      <vt:lpstr>PowerPoint Presentation</vt:lpstr>
      <vt:lpstr>Expected Benefits</vt:lpstr>
      <vt:lpstr>PowerPoint Presentation</vt:lpstr>
      <vt:lpstr>Current Progress</vt:lpstr>
      <vt:lpstr>Future Work</vt:lpstr>
      <vt:lpstr>Future Work</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 sai chaitanya</dc:creator>
  <cp:lastModifiedBy>jai sai chaitanya</cp:lastModifiedBy>
  <cp:revision>13</cp:revision>
  <dcterms:created xsi:type="dcterms:W3CDTF">2025-01-07T06:05:05Z</dcterms:created>
  <dcterms:modified xsi:type="dcterms:W3CDTF">2025-07-28T04:52:16Z</dcterms:modified>
</cp:coreProperties>
</file>